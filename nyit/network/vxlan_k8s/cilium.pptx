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8" r:id="rId1"/>
  </p:sldMasterIdLst>
  <p:notesMasterIdLst>
    <p:notesMasterId r:id="rId11"/>
  </p:notesMasterIdLst>
  <p:sldIdLst>
    <p:sldId id="256" r:id="rId2"/>
    <p:sldId id="264" r:id="rId3"/>
    <p:sldId id="257" r:id="rId4"/>
    <p:sldId id="258" r:id="rId5"/>
    <p:sldId id="259" r:id="rId6"/>
    <p:sldId id="260" r:id="rId7"/>
    <p:sldId id="261" r:id="rId8"/>
    <p:sldId id="262" r:id="rId9"/>
    <p:sldId id="263" r:id="rId10"/>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4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8803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880082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GB"/>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10/22/2025</a:t>
            </a:fld>
            <a:endParaRPr lang="en-US" dirty="0"/>
          </a:p>
        </p:txBody>
      </p:sp>
      <p:sp>
        <p:nvSpPr>
          <p:cNvPr id="5" name="Footer Placeholder 4"/>
          <p:cNvSpPr>
            <a:spLocks noGrp="1"/>
          </p:cNvSpPr>
          <p:nvPr>
            <p:ph type="ftr" sz="quarter" idx="11"/>
          </p:nvPr>
        </p:nvSpPr>
        <p:spPr>
          <a:xfrm>
            <a:off x="1451579" y="329307"/>
            <a:ext cx="5626774" cy="309201"/>
          </a:xfrm>
        </p:spPr>
        <p:txBody>
          <a:bodyPr/>
          <a:lstStyle/>
          <a:p>
            <a:endParaRPr lang="en-US" dirty="0"/>
          </a:p>
        </p:txBody>
      </p:sp>
      <p:sp>
        <p:nvSpPr>
          <p:cNvPr id="6" name="Slide Number Placeholder 5"/>
          <p:cNvSpPr>
            <a:spLocks noGrp="1"/>
          </p:cNvSpPr>
          <p:nvPr>
            <p:ph type="sldNum" sz="quarter" idx="12"/>
          </p:nvPr>
        </p:nvSpPr>
        <p:spPr>
          <a:xfrm>
            <a:off x="476834" y="798973"/>
            <a:ext cx="811019" cy="503578"/>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5412640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3722345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GB"/>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5250301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10/22/2025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9515269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10/22/2025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63413400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10/22/2025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6771331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10/22/2025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7286419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10/22/2025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9515877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GB"/>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509A250-FF31-4206-8172-F9D3106AACB1}" type="datetimeFigureOut">
              <a:rPr lang="en-US" smtClean="0"/>
              <a:t>10/22/2025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1657666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9106022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648189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7861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AAD347D-5ACD-4C99-B74B-A9C85AD731AF}" type="datetimeFigureOut">
              <a:rPr lang="en-US" smtClean="0"/>
              <a:t>10/22/2025</a:t>
            </a:fld>
            <a:endParaRPr lang="en-US" dirty="0"/>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D57F1E4F-1CFF-5643-939E-02111984F565}" type="slidenum">
              <a:rPr lang="en-US" smtClean="0"/>
              <a:t>‹#›</a:t>
            </a:fld>
            <a:endParaRPr lang="en-US" dirty="0"/>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0776223"/>
      </p:ext>
    </p:extLst>
  </p:cSld>
  <p:clrMap bg1="dk1" tx1="lt1" bg2="dk2" tx2="lt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Lst>
  <p:hf sldNum="0" hdr="0" ftr="0" dt="0"/>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png"/><Relationship Id="rId3" Type="http://schemas.openxmlformats.org/officeDocument/2006/relationships/image" Target="../media/image12.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png"/><Relationship Id="rId2" Type="http://schemas.openxmlformats.org/officeDocument/2006/relationships/notesSlide" Target="../notesSlides/notesSlide4.xml"/><Relationship Id="rId16" Type="http://schemas.openxmlformats.org/officeDocument/2006/relationships/image" Target="../media/image32.png"/><Relationship Id="rId1" Type="http://schemas.openxmlformats.org/officeDocument/2006/relationships/slideLayout" Target="../slideLayouts/slideLayout1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5.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12.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5.xml"/><Relationship Id="rId16" Type="http://schemas.openxmlformats.org/officeDocument/2006/relationships/image" Target="../media/image48.png"/><Relationship Id="rId1" Type="http://schemas.openxmlformats.org/officeDocument/2006/relationships/slideLayout" Target="../slideLayouts/slideLayout1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6.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18" Type="http://schemas.openxmlformats.org/officeDocument/2006/relationships/image" Target="../media/image63.png"/><Relationship Id="rId3" Type="http://schemas.openxmlformats.org/officeDocument/2006/relationships/image" Target="../media/image12.png"/><Relationship Id="rId21" Type="http://schemas.openxmlformats.org/officeDocument/2006/relationships/image" Target="../media/image66.png"/><Relationship Id="rId7" Type="http://schemas.openxmlformats.org/officeDocument/2006/relationships/image" Target="../media/image52.png"/><Relationship Id="rId12" Type="http://schemas.openxmlformats.org/officeDocument/2006/relationships/image" Target="../media/image57.png"/><Relationship Id="rId17" Type="http://schemas.openxmlformats.org/officeDocument/2006/relationships/image" Target="../media/image62.png"/><Relationship Id="rId2" Type="http://schemas.openxmlformats.org/officeDocument/2006/relationships/notesSlide" Target="../notesSlides/notesSlide6.xml"/><Relationship Id="rId16" Type="http://schemas.openxmlformats.org/officeDocument/2006/relationships/image" Target="../media/image61.png"/><Relationship Id="rId20" Type="http://schemas.openxmlformats.org/officeDocument/2006/relationships/image" Target="../media/image65.png"/><Relationship Id="rId1" Type="http://schemas.openxmlformats.org/officeDocument/2006/relationships/slideLayout" Target="../slideLayouts/slideLayout12.xml"/><Relationship Id="rId6" Type="http://schemas.openxmlformats.org/officeDocument/2006/relationships/image" Target="../media/image51.png"/><Relationship Id="rId11" Type="http://schemas.openxmlformats.org/officeDocument/2006/relationships/image" Target="../media/image56.png"/><Relationship Id="rId24" Type="http://schemas.openxmlformats.org/officeDocument/2006/relationships/image" Target="../media/image69.png"/><Relationship Id="rId5" Type="http://schemas.openxmlformats.org/officeDocument/2006/relationships/image" Target="../media/image50.png"/><Relationship Id="rId15" Type="http://schemas.openxmlformats.org/officeDocument/2006/relationships/image" Target="../media/image60.png"/><Relationship Id="rId23" Type="http://schemas.openxmlformats.org/officeDocument/2006/relationships/image" Target="../media/image68.png"/><Relationship Id="rId10" Type="http://schemas.openxmlformats.org/officeDocument/2006/relationships/image" Target="../media/image55.png"/><Relationship Id="rId19" Type="http://schemas.openxmlformats.org/officeDocument/2006/relationships/image" Target="../media/image64.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 Id="rId22" Type="http://schemas.openxmlformats.org/officeDocument/2006/relationships/image" Target="../media/image67.png"/></Relationships>
</file>

<file path=ppt/slides/_rels/slide7.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18" Type="http://schemas.openxmlformats.org/officeDocument/2006/relationships/image" Target="../media/image83.png"/><Relationship Id="rId3" Type="http://schemas.openxmlformats.org/officeDocument/2006/relationships/image" Target="../media/image12.png"/><Relationship Id="rId21" Type="http://schemas.openxmlformats.org/officeDocument/2006/relationships/image" Target="../media/image86.png"/><Relationship Id="rId7" Type="http://schemas.openxmlformats.org/officeDocument/2006/relationships/image" Target="../media/image73.png"/><Relationship Id="rId12" Type="http://schemas.openxmlformats.org/officeDocument/2006/relationships/image" Target="../media/image78.png"/><Relationship Id="rId17" Type="http://schemas.openxmlformats.org/officeDocument/2006/relationships/image" Target="../media/image82.png"/><Relationship Id="rId25" Type="http://schemas.openxmlformats.org/officeDocument/2006/relationships/image" Target="../media/image90.png"/><Relationship Id="rId2" Type="http://schemas.openxmlformats.org/officeDocument/2006/relationships/notesSlide" Target="../notesSlides/notesSlide7.xml"/><Relationship Id="rId16" Type="http://schemas.openxmlformats.org/officeDocument/2006/relationships/image" Target="../media/image50.png"/><Relationship Id="rId20" Type="http://schemas.openxmlformats.org/officeDocument/2006/relationships/image" Target="../media/image85.png"/><Relationship Id="rId1" Type="http://schemas.openxmlformats.org/officeDocument/2006/relationships/slideLayout" Target="../slideLayouts/slideLayout12.xml"/><Relationship Id="rId6" Type="http://schemas.openxmlformats.org/officeDocument/2006/relationships/image" Target="../media/image72.png"/><Relationship Id="rId11" Type="http://schemas.openxmlformats.org/officeDocument/2006/relationships/image" Target="../media/image77.png"/><Relationship Id="rId24" Type="http://schemas.openxmlformats.org/officeDocument/2006/relationships/image" Target="../media/image89.png"/><Relationship Id="rId5" Type="http://schemas.openxmlformats.org/officeDocument/2006/relationships/image" Target="../media/image71.png"/><Relationship Id="rId15" Type="http://schemas.openxmlformats.org/officeDocument/2006/relationships/image" Target="../media/image81.png"/><Relationship Id="rId23" Type="http://schemas.openxmlformats.org/officeDocument/2006/relationships/image" Target="../media/image88.png"/><Relationship Id="rId10" Type="http://schemas.openxmlformats.org/officeDocument/2006/relationships/image" Target="../media/image76.png"/><Relationship Id="rId19" Type="http://schemas.openxmlformats.org/officeDocument/2006/relationships/image" Target="../media/image84.png"/><Relationship Id="rId4" Type="http://schemas.openxmlformats.org/officeDocument/2006/relationships/image" Target="../media/image70.png"/><Relationship Id="rId9" Type="http://schemas.openxmlformats.org/officeDocument/2006/relationships/image" Target="../media/image75.png"/><Relationship Id="rId14" Type="http://schemas.openxmlformats.org/officeDocument/2006/relationships/image" Target="../media/image80.png"/><Relationship Id="rId22" Type="http://schemas.openxmlformats.org/officeDocument/2006/relationships/image" Target="../media/image87.png"/></Relationships>
</file>

<file path=ppt/slides/_rels/slide8.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png"/><Relationship Id="rId18" Type="http://schemas.openxmlformats.org/officeDocument/2006/relationships/image" Target="../media/image106.png"/><Relationship Id="rId3" Type="http://schemas.openxmlformats.org/officeDocument/2006/relationships/image" Target="../media/image91.png"/><Relationship Id="rId7" Type="http://schemas.openxmlformats.org/officeDocument/2006/relationships/image" Target="../media/image95.png"/><Relationship Id="rId12" Type="http://schemas.openxmlformats.org/officeDocument/2006/relationships/image" Target="../media/image100.png"/><Relationship Id="rId17" Type="http://schemas.openxmlformats.org/officeDocument/2006/relationships/image" Target="../media/image105.png"/><Relationship Id="rId2" Type="http://schemas.openxmlformats.org/officeDocument/2006/relationships/notesSlide" Target="../notesSlides/notesSlide8.xml"/><Relationship Id="rId16" Type="http://schemas.openxmlformats.org/officeDocument/2006/relationships/image" Target="../media/image104.png"/><Relationship Id="rId1" Type="http://schemas.openxmlformats.org/officeDocument/2006/relationships/slideLayout" Target="../slideLayouts/slideLayout12.xml"/><Relationship Id="rId6" Type="http://schemas.openxmlformats.org/officeDocument/2006/relationships/image" Target="../media/image94.png"/><Relationship Id="rId11" Type="http://schemas.openxmlformats.org/officeDocument/2006/relationships/image" Target="../media/image99.png"/><Relationship Id="rId5" Type="http://schemas.openxmlformats.org/officeDocument/2006/relationships/image" Target="../media/image93.png"/><Relationship Id="rId15" Type="http://schemas.openxmlformats.org/officeDocument/2006/relationships/image" Target="../media/image103.png"/><Relationship Id="rId10" Type="http://schemas.openxmlformats.org/officeDocument/2006/relationships/image" Target="../media/image98.png"/><Relationship Id="rId4" Type="http://schemas.openxmlformats.org/officeDocument/2006/relationships/image" Target="../media/image92.png"/><Relationship Id="rId9" Type="http://schemas.openxmlformats.org/officeDocument/2006/relationships/image" Target="../media/image97.png"/><Relationship Id="rId14" Type="http://schemas.openxmlformats.org/officeDocument/2006/relationships/image" Target="../media/image102.png"/></Relationships>
</file>

<file path=ppt/slides/_rels/slide9.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3" Type="http://schemas.openxmlformats.org/officeDocument/2006/relationships/image" Target="../media/image12.png"/><Relationship Id="rId7" Type="http://schemas.openxmlformats.org/officeDocument/2006/relationships/image" Target="../media/image110.png"/><Relationship Id="rId12" Type="http://schemas.openxmlformats.org/officeDocument/2006/relationships/image" Target="../media/image115.png"/><Relationship Id="rId17" Type="http://schemas.openxmlformats.org/officeDocument/2006/relationships/image" Target="../media/image120.png"/><Relationship Id="rId2" Type="http://schemas.openxmlformats.org/officeDocument/2006/relationships/notesSlide" Target="../notesSlides/notesSlide9.xml"/><Relationship Id="rId16" Type="http://schemas.openxmlformats.org/officeDocument/2006/relationships/image" Target="../media/image119.png"/><Relationship Id="rId1" Type="http://schemas.openxmlformats.org/officeDocument/2006/relationships/slideLayout" Target="../slideLayouts/slideLayout12.xml"/><Relationship Id="rId6" Type="http://schemas.openxmlformats.org/officeDocument/2006/relationships/image" Target="../media/image109.png"/><Relationship Id="rId11" Type="http://schemas.openxmlformats.org/officeDocument/2006/relationships/image" Target="../media/image114.png"/><Relationship Id="rId5" Type="http://schemas.openxmlformats.org/officeDocument/2006/relationships/image" Target="../media/image108.png"/><Relationship Id="rId15" Type="http://schemas.openxmlformats.org/officeDocument/2006/relationships/image" Target="../media/image118.png"/><Relationship Id="rId10" Type="http://schemas.openxmlformats.org/officeDocument/2006/relationships/image" Target="../media/image113.png"/><Relationship Id="rId4" Type="http://schemas.openxmlformats.org/officeDocument/2006/relationships/image" Target="../media/image107.png"/><Relationship Id="rId9" Type="http://schemas.openxmlformats.org/officeDocument/2006/relationships/image" Target="../media/image112.png"/><Relationship Id="rId14" Type="http://schemas.openxmlformats.org/officeDocument/2006/relationships/image" Target="../media/image1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609600" y="685800"/>
            <a:ext cx="1714500" cy="1714500"/>
          </a:xfrm>
          <a:prstGeom prst="rect">
            <a:avLst/>
          </a:prstGeom>
        </p:spPr>
      </p:pic>
      <p:pic>
        <p:nvPicPr>
          <p:cNvPr id="4" name="Image 2" descr="preencoded.png"/>
          <p:cNvPicPr>
            <a:picLocks noChangeAspect="1"/>
          </p:cNvPicPr>
          <p:nvPr/>
        </p:nvPicPr>
        <p:blipFill>
          <a:blip r:embed="rId5"/>
          <a:stretch>
            <a:fillRect/>
          </a:stretch>
        </p:blipFill>
        <p:spPr>
          <a:xfrm>
            <a:off x="1828800" y="4114800"/>
            <a:ext cx="1143000" cy="1143000"/>
          </a:xfrm>
          <a:prstGeom prst="rect">
            <a:avLst/>
          </a:prstGeom>
        </p:spPr>
      </p:pic>
      <p:pic>
        <p:nvPicPr>
          <p:cNvPr id="5" name="Image 3" descr="preencoded.png"/>
          <p:cNvPicPr>
            <a:picLocks noChangeAspect="1"/>
          </p:cNvPicPr>
          <p:nvPr/>
        </p:nvPicPr>
        <p:blipFill>
          <a:blip r:embed="rId6"/>
          <a:stretch>
            <a:fillRect/>
          </a:stretch>
        </p:blipFill>
        <p:spPr>
          <a:xfrm>
            <a:off x="9753600" y="1371600"/>
            <a:ext cx="1428750" cy="1428750"/>
          </a:xfrm>
          <a:prstGeom prst="rect">
            <a:avLst/>
          </a:prstGeom>
        </p:spPr>
      </p:pic>
      <p:pic>
        <p:nvPicPr>
          <p:cNvPr id="6" name="Image 4" descr="preencoded.png"/>
          <p:cNvPicPr>
            <a:picLocks noChangeAspect="1"/>
          </p:cNvPicPr>
          <p:nvPr/>
        </p:nvPicPr>
        <p:blipFill>
          <a:blip r:embed="rId7"/>
          <a:stretch>
            <a:fillRect/>
          </a:stretch>
        </p:blipFill>
        <p:spPr>
          <a:xfrm>
            <a:off x="9144000" y="4800600"/>
            <a:ext cx="952500" cy="952500"/>
          </a:xfrm>
          <a:prstGeom prst="rect">
            <a:avLst/>
          </a:prstGeom>
        </p:spPr>
      </p:pic>
      <p:pic>
        <p:nvPicPr>
          <p:cNvPr id="7" name="Image 5" descr="preencoded.png"/>
          <p:cNvPicPr>
            <a:picLocks noChangeAspect="1"/>
          </p:cNvPicPr>
          <p:nvPr/>
        </p:nvPicPr>
        <p:blipFill>
          <a:blip r:embed="rId8"/>
          <a:stretch>
            <a:fillRect/>
          </a:stretch>
        </p:blipFill>
        <p:spPr>
          <a:xfrm>
            <a:off x="10363200" y="2743200"/>
            <a:ext cx="1238250" cy="1238250"/>
          </a:xfrm>
          <a:prstGeom prst="rect">
            <a:avLst/>
          </a:prstGeom>
        </p:spPr>
      </p:pic>
      <p:pic>
        <p:nvPicPr>
          <p:cNvPr id="8" name="Image 6" descr="preencoded.png"/>
          <p:cNvPicPr>
            <a:picLocks noChangeAspect="1"/>
          </p:cNvPicPr>
          <p:nvPr/>
        </p:nvPicPr>
        <p:blipFill>
          <a:blip r:embed="rId9"/>
          <a:stretch>
            <a:fillRect/>
          </a:stretch>
        </p:blipFill>
        <p:spPr>
          <a:xfrm>
            <a:off x="6096000" y="1028700"/>
            <a:ext cx="762000" cy="762000"/>
          </a:xfrm>
          <a:prstGeom prst="rect">
            <a:avLst/>
          </a:prstGeom>
        </p:spPr>
      </p:pic>
      <p:pic>
        <p:nvPicPr>
          <p:cNvPr id="10" name="Image 8" descr="preencoded.png"/>
          <p:cNvPicPr>
            <a:picLocks noChangeAspect="1"/>
          </p:cNvPicPr>
          <p:nvPr/>
        </p:nvPicPr>
        <p:blipFill>
          <a:blip r:embed="rId10"/>
          <a:stretch>
            <a:fillRect/>
          </a:stretch>
        </p:blipFill>
        <p:spPr>
          <a:xfrm>
            <a:off x="5262414" y="4610100"/>
            <a:ext cx="609600" cy="38100"/>
          </a:xfrm>
          <a:prstGeom prst="rect">
            <a:avLst/>
          </a:prstGeom>
        </p:spPr>
      </p:pic>
      <p:pic>
        <p:nvPicPr>
          <p:cNvPr id="11" name="Image 9" descr="preencoded.png"/>
          <p:cNvPicPr>
            <a:picLocks noChangeAspect="1"/>
          </p:cNvPicPr>
          <p:nvPr/>
        </p:nvPicPr>
        <p:blipFill>
          <a:blip r:embed="rId11"/>
          <a:stretch>
            <a:fillRect/>
          </a:stretch>
        </p:blipFill>
        <p:spPr>
          <a:xfrm>
            <a:off x="5986314" y="4524375"/>
            <a:ext cx="219075" cy="171450"/>
          </a:xfrm>
          <a:prstGeom prst="rect">
            <a:avLst/>
          </a:prstGeom>
        </p:spPr>
      </p:pic>
      <p:pic>
        <p:nvPicPr>
          <p:cNvPr id="12" name="Image 10" descr="preencoded.png"/>
          <p:cNvPicPr>
            <a:picLocks noChangeAspect="1"/>
          </p:cNvPicPr>
          <p:nvPr/>
        </p:nvPicPr>
        <p:blipFill>
          <a:blip r:embed="rId10"/>
          <a:stretch>
            <a:fillRect/>
          </a:stretch>
        </p:blipFill>
        <p:spPr>
          <a:xfrm>
            <a:off x="6319689" y="4610100"/>
            <a:ext cx="609600" cy="38100"/>
          </a:xfrm>
          <a:prstGeom prst="rect">
            <a:avLst/>
          </a:prstGeom>
        </p:spPr>
      </p:pic>
      <p:sp>
        <p:nvSpPr>
          <p:cNvPr id="13" name="Text 0"/>
          <p:cNvSpPr/>
          <p:nvPr/>
        </p:nvSpPr>
        <p:spPr>
          <a:xfrm>
            <a:off x="-276032" y="2095500"/>
            <a:ext cx="12743914" cy="571500"/>
          </a:xfrm>
          <a:prstGeom prst="rect">
            <a:avLst/>
          </a:prstGeom>
          <a:noFill/>
          <a:ln/>
        </p:spPr>
        <p:txBody>
          <a:bodyPr vert="horz" wrap="square" lIns="0" tIns="0" rIns="0" bIns="0" rtlCol="0" anchor="t"/>
          <a:lstStyle/>
          <a:p>
            <a:pPr marL="0" indent="0" algn="ctr">
              <a:lnSpc>
                <a:spcPts val="4500"/>
              </a:lnSpc>
              <a:buNone/>
            </a:pPr>
            <a:r>
              <a:rPr lang="en-US" sz="4500" b="1" dirty="0">
                <a:solidFill>
                  <a:srgbClr val="000000">
                    <a:alpha val="0"/>
                  </a:srgbClr>
                </a:solidFill>
                <a:latin typeface="ui-sans-serif" pitchFamily="34" charset="0"/>
                <a:ea typeface="ui-sans-serif" pitchFamily="34" charset="-122"/>
                <a:cs typeface="ui-sans-serif" pitchFamily="34" charset="-120"/>
              </a:rPr>
              <a:t>Cilium on Kubernetes</a:t>
            </a:r>
            <a:endParaRPr lang="en-US" sz="4500" dirty="0"/>
          </a:p>
        </p:txBody>
      </p:sp>
      <p:sp>
        <p:nvSpPr>
          <p:cNvPr id="14" name="Text 1"/>
          <p:cNvSpPr/>
          <p:nvPr/>
        </p:nvSpPr>
        <p:spPr>
          <a:xfrm>
            <a:off x="-276032" y="2819400"/>
            <a:ext cx="12743914"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D8B4FE"/>
                </a:solidFill>
                <a:latin typeface="ui-sans-serif" pitchFamily="34" charset="0"/>
                <a:ea typeface="ui-sans-serif" pitchFamily="34" charset="-122"/>
                <a:cs typeface="ui-sans-serif" pitchFamily="34" charset="-120"/>
              </a:rPr>
              <a:t>CILLIUM</a:t>
            </a:r>
            <a:endParaRPr lang="en-US" sz="2700" dirty="0"/>
          </a:p>
        </p:txBody>
      </p:sp>
      <p:sp>
        <p:nvSpPr>
          <p:cNvPr id="15" name="Text 2"/>
          <p:cNvSpPr/>
          <p:nvPr/>
        </p:nvSpPr>
        <p:spPr>
          <a:xfrm>
            <a:off x="2379018" y="3505200"/>
            <a:ext cx="7433816" cy="533400"/>
          </a:xfrm>
          <a:prstGeom prst="rect">
            <a:avLst/>
          </a:prstGeom>
          <a:noFill/>
          <a:ln/>
        </p:spPr>
        <p:txBody>
          <a:bodyPr vert="horz" wrap="square" lIns="0" tIns="0" rIns="0" bIns="0" rtlCol="0" anchor="t"/>
          <a:lstStyle/>
          <a:p>
            <a:pPr marL="0" indent="0" algn="ctr">
              <a:lnSpc>
                <a:spcPts val="2100"/>
              </a:lnSpc>
              <a:buNone/>
            </a:pPr>
            <a:r>
              <a:rPr lang="en-US" sz="1500" dirty="0">
                <a:solidFill>
                  <a:srgbClr val="D1D5DB"/>
                </a:solidFill>
                <a:latin typeface="ui-sans-serif" pitchFamily="34" charset="0"/>
                <a:ea typeface="ui-sans-serif" pitchFamily="34" charset="-122"/>
                <a:cs typeface="ui-sans-serif" pitchFamily="34" charset="-120"/>
              </a:rPr>
              <a:t>Leveraging eBPF technology for superior networking, security, and observability in containerized environments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81000" y="896646"/>
            <a:ext cx="9854954" cy="5202314"/>
          </a:xfrm>
          <a:prstGeom prst="rect">
            <a:avLst/>
          </a:prstGeom>
        </p:spPr>
      </p:pic>
      <p:pic>
        <p:nvPicPr>
          <p:cNvPr id="4" name="Image 2" descr="preencoded.png"/>
          <p:cNvPicPr>
            <a:picLocks noChangeAspect="1"/>
          </p:cNvPicPr>
          <p:nvPr/>
        </p:nvPicPr>
        <p:blipFill>
          <a:blip r:embed="rId4">
            <a:extLst>
              <a:ext uri="{BEBA8EAE-BF5A-486C-A8C5-ECC9F3942E4B}">
                <a14:imgProps xmlns:a14="http://schemas.microsoft.com/office/drawing/2010/main">
                  <a14:imgLayer r:embed="rId5">
                    <a14:imgEffect>
                      <a14:colorTemperature colorTemp="7200"/>
                    </a14:imgEffect>
                  </a14:imgLayer>
                </a14:imgProps>
              </a:ext>
            </a:extLst>
          </a:blip>
          <a:stretch>
            <a:fillRect/>
          </a:stretch>
        </p:blipFill>
        <p:spPr>
          <a:xfrm>
            <a:off x="381000" y="1260628"/>
            <a:ext cx="9683684" cy="4347839"/>
          </a:xfrm>
          <a:prstGeom prst="rect">
            <a:avLst/>
          </a:prstGeom>
          <a:ln>
            <a:solidFill>
              <a:schemeClr val="accent1"/>
            </a:solidFill>
          </a:ln>
        </p:spPr>
      </p:pic>
      <p:sp>
        <p:nvSpPr>
          <p:cNvPr id="15" name="Text 0"/>
          <p:cNvSpPr/>
          <p:nvPr/>
        </p:nvSpPr>
        <p:spPr>
          <a:xfrm>
            <a:off x="3113659" y="1474063"/>
            <a:ext cx="6172200" cy="304800"/>
          </a:xfrm>
          <a:prstGeom prst="rect">
            <a:avLst/>
          </a:prstGeom>
          <a:noFill/>
          <a:ln/>
        </p:spPr>
        <p:txBody>
          <a:bodyPr vert="horz" wrap="square" lIns="0" tIns="0" rIns="0" bIns="0" rtlCol="0" anchor="t"/>
          <a:lstStyle/>
          <a:p>
            <a:pPr marL="0" indent="0">
              <a:lnSpc>
                <a:spcPts val="2400"/>
              </a:lnSpc>
              <a:buNone/>
            </a:pPr>
            <a:r>
              <a:rPr lang="en-US" sz="2400" b="1" dirty="0">
                <a:solidFill>
                  <a:srgbClr val="1F2937"/>
                </a:solidFill>
                <a:latin typeface="ui-sans-serif" pitchFamily="34" charset="0"/>
                <a:ea typeface="ui-sans-serif" pitchFamily="34" charset="-122"/>
              </a:rPr>
              <a:t>Introduction -  What to know</a:t>
            </a:r>
            <a:endParaRPr lang="en-US" sz="2400" dirty="0"/>
          </a:p>
        </p:txBody>
      </p:sp>
      <p:sp>
        <p:nvSpPr>
          <p:cNvPr id="16" name="Text 1"/>
          <p:cNvSpPr/>
          <p:nvPr/>
        </p:nvSpPr>
        <p:spPr>
          <a:xfrm>
            <a:off x="3647059" y="1992298"/>
            <a:ext cx="5105400" cy="1558031"/>
          </a:xfrm>
          <a:prstGeom prst="rect">
            <a:avLst/>
          </a:prstGeom>
          <a:noFill/>
          <a:ln/>
        </p:spPr>
        <p:txBody>
          <a:bodyPr vert="horz" wrap="square" lIns="0" tIns="0" rIns="0" bIns="0" rtlCol="0" anchor="t"/>
          <a:lstStyle/>
          <a:p>
            <a:pPr marL="342900" indent="-342900" algn="l">
              <a:lnSpc>
                <a:spcPct val="150000"/>
              </a:lnSpc>
              <a:buSzPct val="100000"/>
              <a:buChar char="•"/>
            </a:pPr>
            <a:r>
              <a:rPr lang="en-US" dirty="0">
                <a:solidFill>
                  <a:srgbClr val="374151"/>
                </a:solidFill>
                <a:latin typeface="ui-sans-serif" pitchFamily="34" charset="0"/>
                <a:ea typeface="ui-sans-serif" pitchFamily="34" charset="-122"/>
                <a:cs typeface="ui-sans-serif" pitchFamily="34" charset="-120"/>
              </a:rPr>
              <a:t>Kubernetes networking</a:t>
            </a:r>
          </a:p>
          <a:p>
            <a:pPr marL="342900" indent="-342900" algn="l">
              <a:lnSpc>
                <a:spcPct val="150000"/>
              </a:lnSpc>
              <a:buSzPct val="100000"/>
              <a:buChar char="•"/>
            </a:pPr>
            <a:r>
              <a:rPr lang="en-US" dirty="0">
                <a:solidFill>
                  <a:srgbClr val="374151"/>
                </a:solidFill>
                <a:latin typeface="ui-sans-serif" pitchFamily="34" charset="0"/>
                <a:ea typeface="ui-sans-serif" pitchFamily="34" charset="-122"/>
              </a:rPr>
              <a:t>CNI (Container network Interface</a:t>
            </a:r>
          </a:p>
          <a:p>
            <a:pPr marL="342900" indent="-342900" algn="l">
              <a:lnSpc>
                <a:spcPct val="150000"/>
              </a:lnSpc>
              <a:buSzPct val="100000"/>
              <a:buChar char="•"/>
            </a:pPr>
            <a:r>
              <a:rPr lang="en-US" dirty="0">
                <a:solidFill>
                  <a:srgbClr val="374151"/>
                </a:solidFill>
                <a:latin typeface="ui-sans-serif" pitchFamily="34" charset="0"/>
                <a:ea typeface="ui-sans-serif" pitchFamily="34" charset="-122"/>
              </a:rPr>
              <a:t>EBF</a:t>
            </a:r>
          </a:p>
          <a:p>
            <a:pPr marL="342900" indent="-342900" algn="l">
              <a:lnSpc>
                <a:spcPct val="150000"/>
              </a:lnSpc>
              <a:buSzPct val="100000"/>
              <a:buChar char="•"/>
            </a:pPr>
            <a:r>
              <a:rPr lang="en-US" dirty="0">
                <a:solidFill>
                  <a:srgbClr val="374151"/>
                </a:solidFill>
                <a:latin typeface="ui-sans-serif" pitchFamily="34" charset="0"/>
                <a:ea typeface="ui-sans-serif" pitchFamily="34" charset="-122"/>
              </a:rPr>
              <a:t>How Cilium Works</a:t>
            </a:r>
          </a:p>
          <a:p>
            <a:pPr marL="342900" indent="-342900" algn="l">
              <a:lnSpc>
                <a:spcPct val="150000"/>
              </a:lnSpc>
              <a:buSzPct val="100000"/>
              <a:buChar char="•"/>
            </a:pPr>
            <a:r>
              <a:rPr lang="en-US" dirty="0">
                <a:solidFill>
                  <a:srgbClr val="374151"/>
                </a:solidFill>
                <a:latin typeface="ui-sans-serif" pitchFamily="34" charset="0"/>
                <a:ea typeface="ui-sans-serif" pitchFamily="34" charset="-122"/>
              </a:rPr>
              <a:t>Hubble</a:t>
            </a:r>
          </a:p>
          <a:p>
            <a:pPr marL="342900" indent="-342900" algn="l">
              <a:lnSpc>
                <a:spcPct val="150000"/>
              </a:lnSpc>
              <a:buSzPct val="100000"/>
              <a:buChar char="•"/>
            </a:pPr>
            <a:r>
              <a:rPr lang="en-US" dirty="0">
                <a:solidFill>
                  <a:srgbClr val="374151"/>
                </a:solidFill>
                <a:latin typeface="ui-sans-serif" pitchFamily="34" charset="0"/>
                <a:ea typeface="ui-sans-serif" pitchFamily="34" charset="-122"/>
              </a:rPr>
              <a:t>Benefits or Advantages of Cilium</a:t>
            </a:r>
          </a:p>
          <a:p>
            <a:pPr algn="l">
              <a:lnSpc>
                <a:spcPct val="150000"/>
              </a:lnSpc>
              <a:buSzPct val="100000"/>
            </a:pPr>
            <a:endParaRPr lang="en-US" dirty="0">
              <a:solidFill>
                <a:srgbClr val="374151"/>
              </a:solidFill>
              <a:latin typeface="ui-sans-serif" pitchFamily="34" charset="0"/>
              <a:ea typeface="ui-sans-serif" pitchFamily="34" charset="-122"/>
            </a:endParaRPr>
          </a:p>
          <a:p>
            <a:pPr marL="342900" indent="-342900" algn="l">
              <a:lnSpc>
                <a:spcPct val="150000"/>
              </a:lnSpc>
              <a:buSzPct val="100000"/>
              <a:buChar char="•"/>
            </a:pPr>
            <a:endParaRPr lang="en-US" dirty="0"/>
          </a:p>
        </p:txBody>
      </p:sp>
    </p:spTree>
    <p:extLst>
      <p:ext uri="{BB962C8B-B14F-4D97-AF65-F5344CB8AC3E}">
        <p14:creationId xmlns:p14="http://schemas.microsoft.com/office/powerpoint/2010/main" val="2670225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81000" y="457200"/>
            <a:ext cx="5600700" cy="3390900"/>
          </a:xfrm>
          <a:prstGeom prst="rect">
            <a:avLst/>
          </a:prstGeom>
        </p:spPr>
      </p:pic>
      <p:pic>
        <p:nvPicPr>
          <p:cNvPr id="5" name="Image 3" descr="preencoded.png"/>
          <p:cNvPicPr>
            <a:picLocks noChangeAspect="1"/>
          </p:cNvPicPr>
          <p:nvPr/>
        </p:nvPicPr>
        <p:blipFill>
          <a:blip r:embed="rId5"/>
          <a:stretch>
            <a:fillRect/>
          </a:stretch>
        </p:blipFill>
        <p:spPr>
          <a:xfrm>
            <a:off x="609600" y="723900"/>
            <a:ext cx="285750" cy="228600"/>
          </a:xfrm>
          <a:prstGeom prst="rect">
            <a:avLst/>
          </a:prstGeom>
        </p:spPr>
      </p:pic>
      <p:pic>
        <p:nvPicPr>
          <p:cNvPr id="8" name="Image 6" descr="preencoded.png"/>
          <p:cNvPicPr>
            <a:picLocks noChangeAspect="1"/>
          </p:cNvPicPr>
          <p:nvPr/>
        </p:nvPicPr>
        <p:blipFill>
          <a:blip r:embed="rId4"/>
          <a:stretch>
            <a:fillRect/>
          </a:stretch>
        </p:blipFill>
        <p:spPr>
          <a:xfrm>
            <a:off x="6210300" y="533400"/>
            <a:ext cx="5600700" cy="3390900"/>
          </a:xfrm>
          <a:prstGeom prst="rect">
            <a:avLst/>
          </a:prstGeom>
        </p:spPr>
      </p:pic>
      <p:pic>
        <p:nvPicPr>
          <p:cNvPr id="9" name="Image 7" descr="preencoded.png"/>
          <p:cNvPicPr>
            <a:picLocks noChangeAspect="1"/>
          </p:cNvPicPr>
          <p:nvPr/>
        </p:nvPicPr>
        <p:blipFill>
          <a:blip r:embed="rId6"/>
          <a:stretch>
            <a:fillRect/>
          </a:stretch>
        </p:blipFill>
        <p:spPr>
          <a:xfrm>
            <a:off x="6438900" y="723900"/>
            <a:ext cx="171450" cy="228600"/>
          </a:xfrm>
          <a:prstGeom prst="rect">
            <a:avLst/>
          </a:prstGeom>
        </p:spPr>
      </p:pic>
      <p:pic>
        <p:nvPicPr>
          <p:cNvPr id="12" name="Image 10" descr="preencoded.png"/>
          <p:cNvPicPr>
            <a:picLocks noChangeAspect="1"/>
          </p:cNvPicPr>
          <p:nvPr/>
        </p:nvPicPr>
        <p:blipFill>
          <a:blip r:embed="rId7"/>
          <a:stretch>
            <a:fillRect/>
          </a:stretch>
        </p:blipFill>
        <p:spPr>
          <a:xfrm>
            <a:off x="381000" y="4076700"/>
            <a:ext cx="11430000" cy="1085850"/>
          </a:xfrm>
          <a:prstGeom prst="rect">
            <a:avLst/>
          </a:prstGeom>
        </p:spPr>
      </p:pic>
      <p:pic>
        <p:nvPicPr>
          <p:cNvPr id="13" name="Image 11" descr="preencoded.png"/>
          <p:cNvPicPr>
            <a:picLocks noChangeAspect="1"/>
          </p:cNvPicPr>
          <p:nvPr/>
        </p:nvPicPr>
        <p:blipFill>
          <a:blip r:embed="rId8"/>
          <a:stretch>
            <a:fillRect/>
          </a:stretch>
        </p:blipFill>
        <p:spPr>
          <a:xfrm>
            <a:off x="4210050" y="4229100"/>
            <a:ext cx="457200" cy="457200"/>
          </a:xfrm>
          <a:prstGeom prst="rect">
            <a:avLst/>
          </a:prstGeom>
        </p:spPr>
      </p:pic>
      <p:pic>
        <p:nvPicPr>
          <p:cNvPr id="14" name="Image 12" descr="preencoded.png"/>
          <p:cNvPicPr>
            <a:picLocks noChangeAspect="1"/>
          </p:cNvPicPr>
          <p:nvPr/>
        </p:nvPicPr>
        <p:blipFill>
          <a:blip r:embed="rId9"/>
          <a:stretch>
            <a:fillRect/>
          </a:stretch>
        </p:blipFill>
        <p:spPr>
          <a:xfrm>
            <a:off x="5581650" y="4229100"/>
            <a:ext cx="571500" cy="457200"/>
          </a:xfrm>
          <a:prstGeom prst="rect">
            <a:avLst/>
          </a:prstGeom>
        </p:spPr>
      </p:pic>
      <p:sp>
        <p:nvSpPr>
          <p:cNvPr id="15" name="Text 0"/>
          <p:cNvSpPr/>
          <p:nvPr/>
        </p:nvSpPr>
        <p:spPr>
          <a:xfrm>
            <a:off x="1009650" y="685800"/>
            <a:ext cx="61722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Kubernetes Networking</a:t>
            </a:r>
            <a:endParaRPr lang="en-US" sz="1800" dirty="0"/>
          </a:p>
        </p:txBody>
      </p:sp>
      <p:sp>
        <p:nvSpPr>
          <p:cNvPr id="16" name="Text 1"/>
          <p:cNvSpPr/>
          <p:nvPr/>
        </p:nvSpPr>
        <p:spPr>
          <a:xfrm>
            <a:off x="647700" y="1143000"/>
            <a:ext cx="51054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Enables communication between </a:t>
            </a:r>
            <a:r>
              <a:rPr lang="en-US" sz="1200" b="1" dirty="0">
                <a:solidFill>
                  <a:srgbClr val="374151"/>
                </a:solidFill>
                <a:latin typeface="ui-sans-serif" pitchFamily="34" charset="0"/>
                <a:ea typeface="ui-sans-serif" pitchFamily="34" charset="-122"/>
                <a:cs typeface="ui-sans-serif" pitchFamily="34" charset="-120"/>
              </a:rPr>
              <a:t>pods</a:t>
            </a:r>
            <a:r>
              <a:rPr lang="en-US" sz="1200" dirty="0">
                <a:solidFill>
                  <a:srgbClr val="374151"/>
                </a:solidFill>
                <a:latin typeface="ui-sans-serif" pitchFamily="34" charset="0"/>
                <a:ea typeface="ui-sans-serif" pitchFamily="34" charset="-122"/>
                <a:cs typeface="ui-sans-serif" pitchFamily="34" charset="-120"/>
              </a:rPr>
              <a:t>, </a:t>
            </a:r>
            <a:r>
              <a:rPr lang="en-US" sz="1200" b="1" dirty="0">
                <a:solidFill>
                  <a:srgbClr val="374151"/>
                </a:solidFill>
                <a:latin typeface="ui-sans-serif" pitchFamily="34" charset="0"/>
                <a:ea typeface="ui-sans-serif" pitchFamily="34" charset="-122"/>
                <a:cs typeface="ui-sans-serif" pitchFamily="34" charset="-120"/>
              </a:rPr>
              <a:t>services</a:t>
            </a:r>
            <a:r>
              <a:rPr lang="en-US" sz="1200" dirty="0">
                <a:solidFill>
                  <a:srgbClr val="374151"/>
                </a:solidFill>
                <a:latin typeface="ui-sans-serif" pitchFamily="34" charset="0"/>
                <a:ea typeface="ui-sans-serif" pitchFamily="34" charset="-122"/>
                <a:cs typeface="ui-sans-serif" pitchFamily="34" charset="-120"/>
              </a:rPr>
              <a:t>, and </a:t>
            </a:r>
            <a:r>
              <a:rPr lang="en-US" sz="1200" b="1" dirty="0">
                <a:solidFill>
                  <a:srgbClr val="374151"/>
                </a:solidFill>
                <a:latin typeface="ui-sans-serif" pitchFamily="34" charset="0"/>
                <a:ea typeface="ui-sans-serif" pitchFamily="34" charset="-122"/>
                <a:cs typeface="ui-sans-serif" pitchFamily="34" charset="-120"/>
              </a:rPr>
              <a:t>external networks</a:t>
            </a:r>
            <a:endParaRPr lang="en-US" sz="1200" dirty="0"/>
          </a:p>
        </p:txBody>
      </p:sp>
      <p:sp>
        <p:nvSpPr>
          <p:cNvPr id="17" name="Text 2"/>
          <p:cNvSpPr/>
          <p:nvPr/>
        </p:nvSpPr>
        <p:spPr>
          <a:xfrm>
            <a:off x="647700" y="1714500"/>
            <a:ext cx="61264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Provides cluster-wide IP addressing and DNS resolution</a:t>
            </a:r>
            <a:endParaRPr lang="en-US" sz="1200" dirty="0"/>
          </a:p>
        </p:txBody>
      </p:sp>
      <p:sp>
        <p:nvSpPr>
          <p:cNvPr id="18" name="Text 3"/>
          <p:cNvSpPr/>
          <p:nvPr/>
        </p:nvSpPr>
        <p:spPr>
          <a:xfrm>
            <a:off x="647700" y="2057400"/>
            <a:ext cx="61264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Handles service discovery and load balancing</a:t>
            </a:r>
            <a:endParaRPr lang="en-US" sz="1200" dirty="0"/>
          </a:p>
        </p:txBody>
      </p:sp>
      <p:sp>
        <p:nvSpPr>
          <p:cNvPr id="19" name="Text 4"/>
          <p:cNvSpPr/>
          <p:nvPr/>
        </p:nvSpPr>
        <p:spPr>
          <a:xfrm>
            <a:off x="647700" y="2400300"/>
            <a:ext cx="61264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Manages network policy enforcement for security</a:t>
            </a:r>
            <a:endParaRPr lang="en-US" sz="1200" dirty="0"/>
          </a:p>
        </p:txBody>
      </p:sp>
      <p:sp>
        <p:nvSpPr>
          <p:cNvPr id="21" name="Text 6"/>
          <p:cNvSpPr/>
          <p:nvPr/>
        </p:nvSpPr>
        <p:spPr>
          <a:xfrm>
            <a:off x="6724650" y="685800"/>
            <a:ext cx="61722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Container Network Interface (CNI)</a:t>
            </a:r>
            <a:endParaRPr lang="en-US" sz="1800" dirty="0"/>
          </a:p>
        </p:txBody>
      </p:sp>
      <p:sp>
        <p:nvSpPr>
          <p:cNvPr id="22" name="Text 7"/>
          <p:cNvSpPr/>
          <p:nvPr/>
        </p:nvSpPr>
        <p:spPr>
          <a:xfrm>
            <a:off x="6477000" y="1143000"/>
            <a:ext cx="51054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Standardized API that defines the contract between </a:t>
            </a:r>
            <a:r>
              <a:rPr lang="en-US" sz="1200" b="1" dirty="0">
                <a:solidFill>
                  <a:srgbClr val="374151"/>
                </a:solidFill>
                <a:latin typeface="ui-sans-serif" pitchFamily="34" charset="0"/>
                <a:ea typeface="ui-sans-serif" pitchFamily="34" charset="-122"/>
                <a:cs typeface="ui-sans-serif" pitchFamily="34" charset="-120"/>
              </a:rPr>
              <a:t>network plugins</a:t>
            </a:r>
            <a:r>
              <a:rPr lang="en-US" sz="1200" dirty="0">
                <a:solidFill>
                  <a:srgbClr val="374151"/>
                </a:solidFill>
                <a:latin typeface="ui-sans-serif" pitchFamily="34" charset="0"/>
                <a:ea typeface="ui-sans-serif" pitchFamily="34" charset="-122"/>
                <a:cs typeface="ui-sans-serif" pitchFamily="34" charset="-120"/>
              </a:rPr>
              <a:t> and </a:t>
            </a:r>
            <a:r>
              <a:rPr lang="en-US" sz="1200" b="1" dirty="0">
                <a:solidFill>
                  <a:srgbClr val="374151"/>
                </a:solidFill>
                <a:latin typeface="ui-sans-serif" pitchFamily="34" charset="0"/>
                <a:ea typeface="ui-sans-serif" pitchFamily="34" charset="-122"/>
                <a:cs typeface="ui-sans-serif" pitchFamily="34" charset="-120"/>
              </a:rPr>
              <a:t>Kubernetes</a:t>
            </a:r>
            <a:endParaRPr lang="en-US" sz="1200" dirty="0"/>
          </a:p>
        </p:txBody>
      </p:sp>
      <p:sp>
        <p:nvSpPr>
          <p:cNvPr id="23" name="Text 8"/>
          <p:cNvSpPr/>
          <p:nvPr/>
        </p:nvSpPr>
        <p:spPr>
          <a:xfrm>
            <a:off x="6477000" y="1714500"/>
            <a:ext cx="61264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Enables various networking solutions to integrate seamlessly</a:t>
            </a:r>
            <a:endParaRPr lang="en-US" sz="1200" dirty="0"/>
          </a:p>
        </p:txBody>
      </p:sp>
      <p:sp>
        <p:nvSpPr>
          <p:cNvPr id="24" name="Text 9"/>
          <p:cNvSpPr/>
          <p:nvPr/>
        </p:nvSpPr>
        <p:spPr>
          <a:xfrm>
            <a:off x="6477000" y="2057400"/>
            <a:ext cx="612648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Handles pod network lifecycle events (ADD, DELETE, GET, etc.)</a:t>
            </a:r>
            <a:endParaRPr lang="en-US" sz="1200" dirty="0"/>
          </a:p>
        </p:txBody>
      </p:sp>
      <p:sp>
        <p:nvSpPr>
          <p:cNvPr id="25" name="Text 10"/>
          <p:cNvSpPr/>
          <p:nvPr/>
        </p:nvSpPr>
        <p:spPr>
          <a:xfrm>
            <a:off x="6477000" y="2400300"/>
            <a:ext cx="5105400" cy="457200"/>
          </a:xfrm>
          <a:prstGeom prst="rect">
            <a:avLst/>
          </a:prstGeom>
          <a:noFill/>
          <a:ln/>
        </p:spPr>
        <p:txBody>
          <a:bodyPr vert="horz" wrap="square" lIns="0" tIns="0" rIns="0" bIns="0" rtlCol="0" anchor="t"/>
          <a:lstStyle/>
          <a:p>
            <a:pPr marL="342900" indent="-342900" algn="l">
              <a:lnSpc>
                <a:spcPct val="150000"/>
              </a:lnSpc>
              <a:buSzPct val="100000"/>
              <a:buChar char="•"/>
            </a:pPr>
            <a:r>
              <a:rPr lang="en-US" sz="1200" dirty="0">
                <a:solidFill>
                  <a:srgbClr val="374151"/>
                </a:solidFill>
                <a:latin typeface="ui-sans-serif" pitchFamily="34" charset="0"/>
                <a:ea typeface="ui-sans-serif" pitchFamily="34" charset="-122"/>
                <a:cs typeface="ui-sans-serif" pitchFamily="34" charset="-120"/>
              </a:rPr>
              <a:t>Provides a plugin model for different networking implementations</a:t>
            </a:r>
          </a:p>
          <a:p>
            <a:pPr marL="342900" indent="-342900">
              <a:lnSpc>
                <a:spcPct val="150000"/>
              </a:lnSpc>
              <a:buSzPct val="100000"/>
              <a:buFontTx/>
              <a:buChar char="•"/>
            </a:pPr>
            <a:r>
              <a:rPr lang="en-US" sz="1200" dirty="0">
                <a:latin typeface="ui-sans-serif" pitchFamily="34" charset="0"/>
                <a:ea typeface="ui-sans-serif" pitchFamily="34" charset="-122"/>
                <a:cs typeface="ui-sans-serif" pitchFamily="34" charset="-120"/>
              </a:rPr>
              <a:t> CNI allows administrators to choose the networking solution that best fits their needs.</a:t>
            </a:r>
            <a:endParaRPr lang="en-US" sz="1200" dirty="0"/>
          </a:p>
        </p:txBody>
      </p:sp>
      <p:sp>
        <p:nvSpPr>
          <p:cNvPr id="27" name="Text 12"/>
          <p:cNvSpPr/>
          <p:nvPr/>
        </p:nvSpPr>
        <p:spPr>
          <a:xfrm>
            <a:off x="-579120" y="4781550"/>
            <a:ext cx="13350240"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Cilium as a CNI Plugin: Integrates with Kubernetes to provide advanced networking and security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443359" y="533400"/>
            <a:ext cx="4629150" cy="3962400"/>
          </a:xfrm>
          <a:prstGeom prst="rect">
            <a:avLst/>
          </a:prstGeom>
        </p:spPr>
      </p:pic>
      <p:pic>
        <p:nvPicPr>
          <p:cNvPr id="5" name="Image 3" descr="preencoded.png"/>
          <p:cNvPicPr>
            <a:picLocks noChangeAspect="1"/>
          </p:cNvPicPr>
          <p:nvPr/>
        </p:nvPicPr>
        <p:blipFill>
          <a:blip r:embed="rId5"/>
          <a:stretch>
            <a:fillRect/>
          </a:stretch>
        </p:blipFill>
        <p:spPr>
          <a:xfrm>
            <a:off x="609600" y="723900"/>
            <a:ext cx="200025" cy="228600"/>
          </a:xfrm>
          <a:prstGeom prst="rect">
            <a:avLst/>
          </a:prstGeom>
        </p:spPr>
      </p:pic>
      <p:pic>
        <p:nvPicPr>
          <p:cNvPr id="8" name="Image 6" descr="preencoded.png"/>
          <p:cNvPicPr>
            <a:picLocks noChangeAspect="1"/>
          </p:cNvPicPr>
          <p:nvPr/>
        </p:nvPicPr>
        <p:blipFill>
          <a:blip r:embed="rId6"/>
          <a:stretch>
            <a:fillRect/>
          </a:stretch>
        </p:blipFill>
        <p:spPr>
          <a:xfrm>
            <a:off x="5238750" y="457200"/>
            <a:ext cx="6572250" cy="1828800"/>
          </a:xfrm>
          <a:prstGeom prst="rect">
            <a:avLst/>
          </a:prstGeom>
        </p:spPr>
      </p:pic>
      <p:pic>
        <p:nvPicPr>
          <p:cNvPr id="9" name="Image 7" descr="preencoded.png"/>
          <p:cNvPicPr>
            <a:picLocks noChangeAspect="1"/>
          </p:cNvPicPr>
          <p:nvPr/>
        </p:nvPicPr>
        <p:blipFill>
          <a:blip r:embed="rId7"/>
          <a:stretch>
            <a:fillRect/>
          </a:stretch>
        </p:blipFill>
        <p:spPr>
          <a:xfrm>
            <a:off x="5391150" y="990600"/>
            <a:ext cx="1719709" cy="381000"/>
          </a:xfrm>
          <a:prstGeom prst="rect">
            <a:avLst/>
          </a:prstGeom>
        </p:spPr>
      </p:pic>
      <p:pic>
        <p:nvPicPr>
          <p:cNvPr id="10" name="Image 8" descr="preencoded.png"/>
          <p:cNvPicPr>
            <a:picLocks noChangeAspect="1"/>
          </p:cNvPicPr>
          <p:nvPr/>
        </p:nvPicPr>
        <p:blipFill>
          <a:blip r:embed="rId8"/>
          <a:stretch>
            <a:fillRect/>
          </a:stretch>
        </p:blipFill>
        <p:spPr>
          <a:xfrm>
            <a:off x="7110859" y="990600"/>
            <a:ext cx="3197721" cy="381000"/>
          </a:xfrm>
          <a:prstGeom prst="rect">
            <a:avLst/>
          </a:prstGeom>
        </p:spPr>
      </p:pic>
      <p:pic>
        <p:nvPicPr>
          <p:cNvPr id="11" name="Image 9" descr="preencoded.png"/>
          <p:cNvPicPr>
            <a:picLocks noChangeAspect="1"/>
          </p:cNvPicPr>
          <p:nvPr/>
        </p:nvPicPr>
        <p:blipFill>
          <a:blip r:embed="rId9"/>
          <a:stretch>
            <a:fillRect/>
          </a:stretch>
        </p:blipFill>
        <p:spPr>
          <a:xfrm>
            <a:off x="10308580" y="990600"/>
            <a:ext cx="1350020" cy="381000"/>
          </a:xfrm>
          <a:prstGeom prst="rect">
            <a:avLst/>
          </a:prstGeom>
        </p:spPr>
      </p:pic>
      <p:pic>
        <p:nvPicPr>
          <p:cNvPr id="12" name="Image 10" descr="preencoded.png"/>
          <p:cNvPicPr>
            <a:picLocks noChangeAspect="1"/>
          </p:cNvPicPr>
          <p:nvPr/>
        </p:nvPicPr>
        <p:blipFill>
          <a:blip r:embed="rId10"/>
          <a:stretch>
            <a:fillRect/>
          </a:stretch>
        </p:blipFill>
        <p:spPr>
          <a:xfrm>
            <a:off x="7263259" y="1476375"/>
            <a:ext cx="114300" cy="152400"/>
          </a:xfrm>
          <a:prstGeom prst="rect">
            <a:avLst/>
          </a:prstGeom>
        </p:spPr>
      </p:pic>
      <p:pic>
        <p:nvPicPr>
          <p:cNvPr id="13" name="Image 11" descr="preencoded.png"/>
          <p:cNvPicPr>
            <a:picLocks noChangeAspect="1"/>
          </p:cNvPicPr>
          <p:nvPr/>
        </p:nvPicPr>
        <p:blipFill>
          <a:blip r:embed="rId11"/>
          <a:stretch>
            <a:fillRect/>
          </a:stretch>
        </p:blipFill>
        <p:spPr>
          <a:xfrm>
            <a:off x="5391150" y="1752600"/>
            <a:ext cx="6267450" cy="381000"/>
          </a:xfrm>
          <a:prstGeom prst="rect">
            <a:avLst/>
          </a:prstGeom>
        </p:spPr>
      </p:pic>
      <p:pic>
        <p:nvPicPr>
          <p:cNvPr id="14" name="Image 12" descr="preencoded.png"/>
          <p:cNvPicPr>
            <a:picLocks noChangeAspect="1"/>
          </p:cNvPicPr>
          <p:nvPr/>
        </p:nvPicPr>
        <p:blipFill>
          <a:blip r:embed="rId12"/>
          <a:stretch>
            <a:fillRect/>
          </a:stretch>
        </p:blipFill>
        <p:spPr>
          <a:xfrm>
            <a:off x="7263259" y="1857375"/>
            <a:ext cx="133350" cy="152400"/>
          </a:xfrm>
          <a:prstGeom prst="rect">
            <a:avLst/>
          </a:prstGeom>
        </p:spPr>
      </p:pic>
      <p:pic>
        <p:nvPicPr>
          <p:cNvPr id="15" name="Image 13" descr="preencoded.png"/>
          <p:cNvPicPr>
            <a:picLocks noChangeAspect="1"/>
          </p:cNvPicPr>
          <p:nvPr/>
        </p:nvPicPr>
        <p:blipFill>
          <a:blip r:embed="rId13"/>
          <a:stretch>
            <a:fillRect/>
          </a:stretch>
        </p:blipFill>
        <p:spPr>
          <a:xfrm>
            <a:off x="5238750" y="2514600"/>
            <a:ext cx="6572250" cy="1905000"/>
          </a:xfrm>
          <a:prstGeom prst="rect">
            <a:avLst/>
          </a:prstGeom>
        </p:spPr>
      </p:pic>
      <p:pic>
        <p:nvPicPr>
          <p:cNvPr id="16" name="Image 14" descr="preencoded.png"/>
          <p:cNvPicPr>
            <a:picLocks noChangeAspect="1"/>
          </p:cNvPicPr>
          <p:nvPr/>
        </p:nvPicPr>
        <p:blipFill>
          <a:blip r:embed="rId14"/>
          <a:stretch>
            <a:fillRect/>
          </a:stretch>
        </p:blipFill>
        <p:spPr>
          <a:xfrm>
            <a:off x="5391150" y="3048000"/>
            <a:ext cx="2089100" cy="1219200"/>
          </a:xfrm>
          <a:prstGeom prst="rect">
            <a:avLst/>
          </a:prstGeom>
        </p:spPr>
      </p:pic>
      <p:pic>
        <p:nvPicPr>
          <p:cNvPr id="17" name="Image 15" descr="preencoded.png"/>
          <p:cNvPicPr>
            <a:picLocks noChangeAspect="1"/>
          </p:cNvPicPr>
          <p:nvPr/>
        </p:nvPicPr>
        <p:blipFill>
          <a:blip r:embed="rId15"/>
          <a:stretch>
            <a:fillRect/>
          </a:stretch>
        </p:blipFill>
        <p:spPr>
          <a:xfrm>
            <a:off x="6292751" y="3162300"/>
            <a:ext cx="285750" cy="304800"/>
          </a:xfrm>
          <a:prstGeom prst="rect">
            <a:avLst/>
          </a:prstGeom>
        </p:spPr>
      </p:pic>
      <p:pic>
        <p:nvPicPr>
          <p:cNvPr id="18" name="Image 16" descr="preencoded.png"/>
          <p:cNvPicPr>
            <a:picLocks noChangeAspect="1"/>
          </p:cNvPicPr>
          <p:nvPr/>
        </p:nvPicPr>
        <p:blipFill>
          <a:blip r:embed="rId16"/>
          <a:stretch>
            <a:fillRect/>
          </a:stretch>
        </p:blipFill>
        <p:spPr>
          <a:xfrm>
            <a:off x="7480250" y="3048000"/>
            <a:ext cx="2089100" cy="1219200"/>
          </a:xfrm>
          <a:prstGeom prst="rect">
            <a:avLst/>
          </a:prstGeom>
        </p:spPr>
      </p:pic>
      <p:pic>
        <p:nvPicPr>
          <p:cNvPr id="19" name="Image 17" descr="preencoded.png"/>
          <p:cNvPicPr>
            <a:picLocks noChangeAspect="1"/>
          </p:cNvPicPr>
          <p:nvPr/>
        </p:nvPicPr>
        <p:blipFill>
          <a:blip r:embed="rId17"/>
          <a:stretch>
            <a:fillRect/>
          </a:stretch>
        </p:blipFill>
        <p:spPr>
          <a:xfrm>
            <a:off x="8424714" y="3162300"/>
            <a:ext cx="200025" cy="304800"/>
          </a:xfrm>
          <a:prstGeom prst="rect">
            <a:avLst/>
          </a:prstGeom>
        </p:spPr>
      </p:pic>
      <p:pic>
        <p:nvPicPr>
          <p:cNvPr id="20" name="Image 18" descr="preencoded.png"/>
          <p:cNvPicPr>
            <a:picLocks noChangeAspect="1"/>
          </p:cNvPicPr>
          <p:nvPr/>
        </p:nvPicPr>
        <p:blipFill>
          <a:blip r:embed="rId18"/>
          <a:stretch>
            <a:fillRect/>
          </a:stretch>
        </p:blipFill>
        <p:spPr>
          <a:xfrm>
            <a:off x="9569351" y="3048000"/>
            <a:ext cx="2089100" cy="1219200"/>
          </a:xfrm>
          <a:prstGeom prst="rect">
            <a:avLst/>
          </a:prstGeom>
        </p:spPr>
      </p:pic>
      <p:pic>
        <p:nvPicPr>
          <p:cNvPr id="21" name="Image 19" descr="preencoded.png"/>
          <p:cNvPicPr>
            <a:picLocks noChangeAspect="1"/>
          </p:cNvPicPr>
          <p:nvPr/>
        </p:nvPicPr>
        <p:blipFill>
          <a:blip r:embed="rId19"/>
          <a:stretch>
            <a:fillRect/>
          </a:stretch>
        </p:blipFill>
        <p:spPr>
          <a:xfrm>
            <a:off x="10528102" y="3162300"/>
            <a:ext cx="171450" cy="304800"/>
          </a:xfrm>
          <a:prstGeom prst="rect">
            <a:avLst/>
          </a:prstGeom>
        </p:spPr>
      </p:pic>
      <p:sp>
        <p:nvSpPr>
          <p:cNvPr id="24" name="Text 0"/>
          <p:cNvSpPr/>
          <p:nvPr/>
        </p:nvSpPr>
        <p:spPr>
          <a:xfrm>
            <a:off x="923925" y="685800"/>
            <a:ext cx="417195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What is eBPF?</a:t>
            </a:r>
            <a:endParaRPr lang="en-US" sz="1800" dirty="0"/>
          </a:p>
        </p:txBody>
      </p:sp>
      <p:sp>
        <p:nvSpPr>
          <p:cNvPr id="25" name="Text 1"/>
          <p:cNvSpPr/>
          <p:nvPr/>
        </p:nvSpPr>
        <p:spPr>
          <a:xfrm>
            <a:off x="647700" y="1143000"/>
            <a:ext cx="413385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Sandboxed programs that run directly in the Linux kernel</a:t>
            </a:r>
            <a:endParaRPr lang="en-US" sz="1200" dirty="0"/>
          </a:p>
        </p:txBody>
      </p:sp>
      <p:sp>
        <p:nvSpPr>
          <p:cNvPr id="26" name="Text 2"/>
          <p:cNvSpPr/>
          <p:nvPr/>
        </p:nvSpPr>
        <p:spPr>
          <a:xfrm>
            <a:off x="647700" y="1714500"/>
            <a:ext cx="496062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No changes to kernel source code required</a:t>
            </a:r>
            <a:endParaRPr lang="en-US" sz="1200" dirty="0"/>
          </a:p>
        </p:txBody>
      </p:sp>
      <p:sp>
        <p:nvSpPr>
          <p:cNvPr id="27" name="Text 3"/>
          <p:cNvSpPr/>
          <p:nvPr/>
        </p:nvSpPr>
        <p:spPr>
          <a:xfrm>
            <a:off x="647700" y="2057400"/>
            <a:ext cx="413385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Safe and efficient extension of kernel functionality at runtime</a:t>
            </a:r>
          </a:p>
          <a:p>
            <a:pPr marL="342900" indent="-342900">
              <a:lnSpc>
                <a:spcPts val="1800"/>
              </a:lnSpc>
              <a:buSzPct val="100000"/>
              <a:buFontTx/>
              <a:buChar char="•"/>
            </a:pPr>
            <a:r>
              <a:rPr lang="en-US" sz="1200" b="1" dirty="0" err="1">
                <a:latin typeface="ui-sans-serif" pitchFamily="34" charset="0"/>
                <a:ea typeface="ui-sans-serif" pitchFamily="34" charset="-122"/>
                <a:cs typeface="ui-sans-serif" pitchFamily="34" charset="-120"/>
              </a:rPr>
              <a:t>Ebpf</a:t>
            </a:r>
            <a:r>
              <a:rPr lang="en-US" sz="1200" b="1" dirty="0">
                <a:latin typeface="ui-sans-serif" pitchFamily="34" charset="0"/>
                <a:ea typeface="ui-sans-serif" pitchFamily="34" charset="-122"/>
                <a:cs typeface="ui-sans-serif" pitchFamily="34" charset="-120"/>
              </a:rPr>
              <a:t> </a:t>
            </a:r>
            <a:r>
              <a:rPr lang="en-US" sz="1200" dirty="0">
                <a:latin typeface="ui-sans-serif" pitchFamily="34" charset="0"/>
                <a:ea typeface="ui-sans-serif" pitchFamily="34" charset="-122"/>
                <a:cs typeface="ui-sans-serif" pitchFamily="34" charset="-120"/>
              </a:rPr>
              <a:t>enables Cilium to deliver superior networking and security for Kubernetes</a:t>
            </a:r>
            <a:endParaRPr lang="en-US" sz="1200" dirty="0"/>
          </a:p>
        </p:txBody>
      </p:sp>
      <p:sp>
        <p:nvSpPr>
          <p:cNvPr id="29" name="Text 5"/>
          <p:cNvSpPr/>
          <p:nvPr/>
        </p:nvSpPr>
        <p:spPr>
          <a:xfrm>
            <a:off x="5391150" y="609600"/>
            <a:ext cx="62674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Beyond iptables</a:t>
            </a:r>
            <a:endParaRPr lang="en-US" sz="1500" dirty="0"/>
          </a:p>
        </p:txBody>
      </p:sp>
      <p:sp>
        <p:nvSpPr>
          <p:cNvPr id="30" name="Text 6"/>
          <p:cNvSpPr/>
          <p:nvPr/>
        </p:nvSpPr>
        <p:spPr>
          <a:xfrm>
            <a:off x="5543550" y="990600"/>
            <a:ext cx="1719709" cy="3810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Feature</a:t>
            </a:r>
            <a:endParaRPr lang="en-US" sz="1200" dirty="0"/>
          </a:p>
        </p:txBody>
      </p:sp>
      <p:sp>
        <p:nvSpPr>
          <p:cNvPr id="31" name="Text 7"/>
          <p:cNvSpPr/>
          <p:nvPr/>
        </p:nvSpPr>
        <p:spPr>
          <a:xfrm>
            <a:off x="7263259" y="990600"/>
            <a:ext cx="3837265" cy="3810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eBPF-based Networking</a:t>
            </a:r>
            <a:endParaRPr lang="en-US" sz="1200" dirty="0"/>
          </a:p>
        </p:txBody>
      </p:sp>
      <p:sp>
        <p:nvSpPr>
          <p:cNvPr id="32" name="Text 8"/>
          <p:cNvSpPr/>
          <p:nvPr/>
        </p:nvSpPr>
        <p:spPr>
          <a:xfrm>
            <a:off x="10460980" y="990600"/>
            <a:ext cx="1620024" cy="3810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iptables</a:t>
            </a:r>
            <a:endParaRPr lang="en-US" sz="1200" dirty="0"/>
          </a:p>
        </p:txBody>
      </p:sp>
      <p:sp>
        <p:nvSpPr>
          <p:cNvPr id="33" name="Text 9"/>
          <p:cNvSpPr/>
          <p:nvPr/>
        </p:nvSpPr>
        <p:spPr>
          <a:xfrm>
            <a:off x="5543550" y="1371600"/>
            <a:ext cx="2063651" cy="3810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Performance</a:t>
            </a:r>
            <a:endParaRPr lang="en-US" sz="1200" dirty="0"/>
          </a:p>
        </p:txBody>
      </p:sp>
      <p:sp>
        <p:nvSpPr>
          <p:cNvPr id="34" name="Text 10"/>
          <p:cNvSpPr/>
          <p:nvPr/>
        </p:nvSpPr>
        <p:spPr>
          <a:xfrm>
            <a:off x="7453759" y="1371600"/>
            <a:ext cx="3197721" cy="381000"/>
          </a:xfrm>
          <a:prstGeom prst="rect">
            <a:avLst/>
          </a:prstGeom>
          <a:noFill/>
          <a:ln/>
        </p:spPr>
        <p:txBody>
          <a:bodyPr vert="horz" wrap="square" lIns="0" tIns="0" rIns="0" bIns="0" rtlCol="0" anchor="t"/>
          <a:lstStyle/>
          <a:p>
            <a:pPr marL="0" indent="0">
              <a:lnSpc>
                <a:spcPts val="1800"/>
              </a:lnSpc>
              <a:buNone/>
            </a:pPr>
            <a:r>
              <a:rPr lang="en-US" sz="1200" dirty="0">
                <a:solidFill>
                  <a:srgbClr val="0D9488"/>
                </a:solidFill>
                <a:latin typeface="ui-sans-serif" pitchFamily="34" charset="0"/>
                <a:ea typeface="ui-sans-serif" pitchFamily="34" charset="-122"/>
                <a:cs typeface="ui-sans-serif" pitchFamily="34" charset="-120"/>
              </a:rPr>
              <a:t>Higher</a:t>
            </a:r>
            <a:endParaRPr lang="en-US" sz="1200" dirty="0"/>
          </a:p>
        </p:txBody>
      </p:sp>
      <p:sp>
        <p:nvSpPr>
          <p:cNvPr id="35" name="Text 11"/>
          <p:cNvSpPr/>
          <p:nvPr/>
        </p:nvSpPr>
        <p:spPr>
          <a:xfrm>
            <a:off x="10460980" y="1371600"/>
            <a:ext cx="1350020" cy="381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Lower</a:t>
            </a:r>
            <a:endParaRPr lang="en-US" sz="1200" dirty="0"/>
          </a:p>
        </p:txBody>
      </p:sp>
      <p:sp>
        <p:nvSpPr>
          <p:cNvPr id="36" name="Text 12"/>
          <p:cNvSpPr/>
          <p:nvPr/>
        </p:nvSpPr>
        <p:spPr>
          <a:xfrm>
            <a:off x="5543550" y="1752600"/>
            <a:ext cx="2063651" cy="3810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Scalability</a:t>
            </a:r>
            <a:endParaRPr lang="en-US" sz="1200" dirty="0"/>
          </a:p>
        </p:txBody>
      </p:sp>
      <p:sp>
        <p:nvSpPr>
          <p:cNvPr id="37" name="Text 13"/>
          <p:cNvSpPr/>
          <p:nvPr/>
        </p:nvSpPr>
        <p:spPr>
          <a:xfrm>
            <a:off x="7472809" y="1752600"/>
            <a:ext cx="3197721" cy="381000"/>
          </a:xfrm>
          <a:prstGeom prst="rect">
            <a:avLst/>
          </a:prstGeom>
          <a:noFill/>
          <a:ln/>
        </p:spPr>
        <p:txBody>
          <a:bodyPr vert="horz" wrap="square" lIns="0" tIns="0" rIns="0" bIns="0" rtlCol="0" anchor="t"/>
          <a:lstStyle/>
          <a:p>
            <a:pPr marL="0" indent="0">
              <a:lnSpc>
                <a:spcPts val="1800"/>
              </a:lnSpc>
              <a:buNone/>
            </a:pPr>
            <a:r>
              <a:rPr lang="en-US" sz="1200" dirty="0">
                <a:solidFill>
                  <a:srgbClr val="0D9488"/>
                </a:solidFill>
                <a:latin typeface="ui-sans-serif" pitchFamily="34" charset="0"/>
                <a:ea typeface="ui-sans-serif" pitchFamily="34" charset="-122"/>
                <a:cs typeface="ui-sans-serif" pitchFamily="34" charset="-120"/>
              </a:rPr>
              <a:t>Better</a:t>
            </a:r>
            <a:endParaRPr lang="en-US" sz="1200" dirty="0"/>
          </a:p>
        </p:txBody>
      </p:sp>
      <p:sp>
        <p:nvSpPr>
          <p:cNvPr id="38" name="Text 14"/>
          <p:cNvSpPr/>
          <p:nvPr/>
        </p:nvSpPr>
        <p:spPr>
          <a:xfrm>
            <a:off x="10460980" y="1752600"/>
            <a:ext cx="1350020" cy="381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Limited</a:t>
            </a:r>
            <a:endParaRPr lang="en-US" sz="1200" dirty="0"/>
          </a:p>
        </p:txBody>
      </p:sp>
      <p:sp>
        <p:nvSpPr>
          <p:cNvPr id="39" name="Text 15"/>
          <p:cNvSpPr/>
          <p:nvPr/>
        </p:nvSpPr>
        <p:spPr>
          <a:xfrm>
            <a:off x="5391150" y="2667000"/>
            <a:ext cx="62674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374151"/>
                </a:solidFill>
                <a:latin typeface="ui-sans-serif" pitchFamily="34" charset="0"/>
                <a:ea typeface="ui-sans-serif" pitchFamily="34" charset="-122"/>
                <a:cs typeface="ui-sans-serif" pitchFamily="34" charset="-120"/>
              </a:rPr>
              <a:t>eBPF Hook Points</a:t>
            </a:r>
            <a:endParaRPr lang="en-US" sz="1500" dirty="0"/>
          </a:p>
        </p:txBody>
      </p:sp>
      <p:sp>
        <p:nvSpPr>
          <p:cNvPr id="40" name="Text 16"/>
          <p:cNvSpPr/>
          <p:nvPr/>
        </p:nvSpPr>
        <p:spPr>
          <a:xfrm>
            <a:off x="5319400" y="3543300"/>
            <a:ext cx="2232600"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1F2937"/>
                </a:solidFill>
                <a:latin typeface="ui-sans-serif" pitchFamily="34" charset="0"/>
                <a:ea typeface="ui-sans-serif" pitchFamily="34" charset="-122"/>
                <a:cs typeface="ui-sans-serif" pitchFamily="34" charset="-120"/>
              </a:rPr>
              <a:t>Network Events</a:t>
            </a:r>
            <a:endParaRPr lang="en-US" sz="1200" dirty="0"/>
          </a:p>
        </p:txBody>
      </p:sp>
      <p:sp>
        <p:nvSpPr>
          <p:cNvPr id="41" name="Text 17"/>
          <p:cNvSpPr/>
          <p:nvPr/>
        </p:nvSpPr>
        <p:spPr>
          <a:xfrm>
            <a:off x="5505450" y="3771900"/>
            <a:ext cx="1860500" cy="381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Packet filtering and inspection</a:t>
            </a:r>
            <a:endParaRPr lang="en-US" sz="1050" dirty="0"/>
          </a:p>
        </p:txBody>
      </p:sp>
      <p:sp>
        <p:nvSpPr>
          <p:cNvPr id="42" name="Text 18"/>
          <p:cNvSpPr/>
          <p:nvPr/>
        </p:nvSpPr>
        <p:spPr>
          <a:xfrm>
            <a:off x="7408500" y="3543300"/>
            <a:ext cx="2232600"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1F2937"/>
                </a:solidFill>
                <a:latin typeface="ui-sans-serif" pitchFamily="34" charset="0"/>
                <a:ea typeface="ui-sans-serif" pitchFamily="34" charset="-122"/>
                <a:cs typeface="ui-sans-serif" pitchFamily="34" charset="-120"/>
              </a:rPr>
              <a:t>System Calls</a:t>
            </a:r>
            <a:endParaRPr lang="en-US" sz="1200" dirty="0"/>
          </a:p>
        </p:txBody>
      </p:sp>
      <p:sp>
        <p:nvSpPr>
          <p:cNvPr id="43" name="Text 19"/>
          <p:cNvSpPr/>
          <p:nvPr/>
        </p:nvSpPr>
        <p:spPr>
          <a:xfrm>
            <a:off x="7594550" y="3771900"/>
            <a:ext cx="1860500" cy="381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Process and resource monitoring</a:t>
            </a:r>
            <a:endParaRPr lang="en-US" sz="1050" dirty="0"/>
          </a:p>
        </p:txBody>
      </p:sp>
      <p:sp>
        <p:nvSpPr>
          <p:cNvPr id="44" name="Text 20"/>
          <p:cNvSpPr/>
          <p:nvPr/>
        </p:nvSpPr>
        <p:spPr>
          <a:xfrm>
            <a:off x="9497601" y="3543300"/>
            <a:ext cx="2232600"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1F2937"/>
                </a:solidFill>
                <a:latin typeface="ui-sans-serif" pitchFamily="34" charset="0"/>
                <a:ea typeface="ui-sans-serif" pitchFamily="34" charset="-122"/>
                <a:cs typeface="ui-sans-serif" pitchFamily="34" charset="-120"/>
              </a:rPr>
              <a:t>Tracepoints</a:t>
            </a:r>
            <a:endParaRPr lang="en-US" sz="1200" dirty="0"/>
          </a:p>
        </p:txBody>
      </p:sp>
      <p:sp>
        <p:nvSpPr>
          <p:cNvPr id="45" name="Text 21"/>
          <p:cNvSpPr/>
          <p:nvPr/>
        </p:nvSpPr>
        <p:spPr>
          <a:xfrm>
            <a:off x="9497601" y="3771900"/>
            <a:ext cx="223260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Kernel instrumentation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81000" y="952500"/>
            <a:ext cx="5600700" cy="1485900"/>
          </a:xfrm>
          <a:prstGeom prst="rect">
            <a:avLst/>
          </a:prstGeom>
        </p:spPr>
      </p:pic>
      <p:pic>
        <p:nvPicPr>
          <p:cNvPr id="5" name="Image 3" descr="preencoded.png"/>
          <p:cNvPicPr>
            <a:picLocks noChangeAspect="1"/>
          </p:cNvPicPr>
          <p:nvPr/>
        </p:nvPicPr>
        <p:blipFill>
          <a:blip r:embed="rId5"/>
          <a:stretch>
            <a:fillRect/>
          </a:stretch>
        </p:blipFill>
        <p:spPr>
          <a:xfrm>
            <a:off x="609600" y="1181100"/>
            <a:ext cx="571500" cy="571500"/>
          </a:xfrm>
          <a:prstGeom prst="rect">
            <a:avLst/>
          </a:prstGeom>
        </p:spPr>
      </p:pic>
      <p:pic>
        <p:nvPicPr>
          <p:cNvPr id="6" name="Image 4" descr="preencoded.png"/>
          <p:cNvPicPr>
            <a:picLocks noChangeAspect="1"/>
          </p:cNvPicPr>
          <p:nvPr/>
        </p:nvPicPr>
        <p:blipFill>
          <a:blip r:embed="rId6"/>
          <a:stretch>
            <a:fillRect/>
          </a:stretch>
        </p:blipFill>
        <p:spPr>
          <a:xfrm>
            <a:off x="704850" y="1276350"/>
            <a:ext cx="381000" cy="381000"/>
          </a:xfrm>
          <a:prstGeom prst="rect">
            <a:avLst/>
          </a:prstGeom>
        </p:spPr>
      </p:pic>
      <p:pic>
        <p:nvPicPr>
          <p:cNvPr id="7" name="Image 5" descr="preencoded.png"/>
          <p:cNvPicPr>
            <a:picLocks noChangeAspect="1"/>
          </p:cNvPicPr>
          <p:nvPr/>
        </p:nvPicPr>
        <p:blipFill>
          <a:blip r:embed="rId4"/>
          <a:stretch>
            <a:fillRect/>
          </a:stretch>
        </p:blipFill>
        <p:spPr>
          <a:xfrm>
            <a:off x="6210300" y="952500"/>
            <a:ext cx="5600700" cy="1485900"/>
          </a:xfrm>
          <a:prstGeom prst="rect">
            <a:avLst/>
          </a:prstGeom>
        </p:spPr>
      </p:pic>
      <p:pic>
        <p:nvPicPr>
          <p:cNvPr id="8" name="Image 6" descr="preencoded.png"/>
          <p:cNvPicPr>
            <a:picLocks noChangeAspect="1"/>
          </p:cNvPicPr>
          <p:nvPr/>
        </p:nvPicPr>
        <p:blipFill>
          <a:blip r:embed="rId7"/>
          <a:stretch>
            <a:fillRect/>
          </a:stretch>
        </p:blipFill>
        <p:spPr>
          <a:xfrm>
            <a:off x="6438900" y="1181100"/>
            <a:ext cx="571500" cy="571500"/>
          </a:xfrm>
          <a:prstGeom prst="rect">
            <a:avLst/>
          </a:prstGeom>
        </p:spPr>
      </p:pic>
      <p:pic>
        <p:nvPicPr>
          <p:cNvPr id="9" name="Image 7" descr="preencoded.png"/>
          <p:cNvPicPr>
            <a:picLocks noChangeAspect="1"/>
          </p:cNvPicPr>
          <p:nvPr/>
        </p:nvPicPr>
        <p:blipFill>
          <a:blip r:embed="rId8"/>
          <a:stretch>
            <a:fillRect/>
          </a:stretch>
        </p:blipFill>
        <p:spPr>
          <a:xfrm>
            <a:off x="6534150" y="1276350"/>
            <a:ext cx="381000" cy="381000"/>
          </a:xfrm>
          <a:prstGeom prst="rect">
            <a:avLst/>
          </a:prstGeom>
        </p:spPr>
      </p:pic>
      <p:pic>
        <p:nvPicPr>
          <p:cNvPr id="10" name="Image 8" descr="preencoded.png"/>
          <p:cNvPicPr>
            <a:picLocks noChangeAspect="1"/>
          </p:cNvPicPr>
          <p:nvPr/>
        </p:nvPicPr>
        <p:blipFill>
          <a:blip r:embed="rId9"/>
          <a:stretch>
            <a:fillRect/>
          </a:stretch>
        </p:blipFill>
        <p:spPr>
          <a:xfrm>
            <a:off x="381000" y="2667000"/>
            <a:ext cx="5600700" cy="1257300"/>
          </a:xfrm>
          <a:prstGeom prst="rect">
            <a:avLst/>
          </a:prstGeom>
        </p:spPr>
      </p:pic>
      <p:pic>
        <p:nvPicPr>
          <p:cNvPr id="11" name="Image 9" descr="preencoded.png"/>
          <p:cNvPicPr>
            <a:picLocks noChangeAspect="1"/>
          </p:cNvPicPr>
          <p:nvPr/>
        </p:nvPicPr>
        <p:blipFill>
          <a:blip r:embed="rId10"/>
          <a:stretch>
            <a:fillRect/>
          </a:stretch>
        </p:blipFill>
        <p:spPr>
          <a:xfrm>
            <a:off x="609600" y="2895600"/>
            <a:ext cx="571500" cy="571500"/>
          </a:xfrm>
          <a:prstGeom prst="rect">
            <a:avLst/>
          </a:prstGeom>
        </p:spPr>
      </p:pic>
      <p:pic>
        <p:nvPicPr>
          <p:cNvPr id="12" name="Image 10" descr="preencoded.png"/>
          <p:cNvPicPr>
            <a:picLocks noChangeAspect="1"/>
          </p:cNvPicPr>
          <p:nvPr/>
        </p:nvPicPr>
        <p:blipFill>
          <a:blip r:embed="rId11"/>
          <a:stretch>
            <a:fillRect/>
          </a:stretch>
        </p:blipFill>
        <p:spPr>
          <a:xfrm>
            <a:off x="657225" y="2990850"/>
            <a:ext cx="476250" cy="381000"/>
          </a:xfrm>
          <a:prstGeom prst="rect">
            <a:avLst/>
          </a:prstGeom>
        </p:spPr>
      </p:pic>
      <p:pic>
        <p:nvPicPr>
          <p:cNvPr id="13" name="Image 11" descr="preencoded.png"/>
          <p:cNvPicPr>
            <a:picLocks noChangeAspect="1"/>
          </p:cNvPicPr>
          <p:nvPr/>
        </p:nvPicPr>
        <p:blipFill>
          <a:blip r:embed="rId9"/>
          <a:stretch>
            <a:fillRect/>
          </a:stretch>
        </p:blipFill>
        <p:spPr>
          <a:xfrm>
            <a:off x="6210300" y="2667000"/>
            <a:ext cx="5600700" cy="1257300"/>
          </a:xfrm>
          <a:prstGeom prst="rect">
            <a:avLst/>
          </a:prstGeom>
        </p:spPr>
      </p:pic>
      <p:pic>
        <p:nvPicPr>
          <p:cNvPr id="14" name="Image 12" descr="preencoded.png"/>
          <p:cNvPicPr>
            <a:picLocks noChangeAspect="1"/>
          </p:cNvPicPr>
          <p:nvPr/>
        </p:nvPicPr>
        <p:blipFill>
          <a:blip r:embed="rId12"/>
          <a:stretch>
            <a:fillRect/>
          </a:stretch>
        </p:blipFill>
        <p:spPr>
          <a:xfrm>
            <a:off x="6438900" y="2895600"/>
            <a:ext cx="571500" cy="571500"/>
          </a:xfrm>
          <a:prstGeom prst="rect">
            <a:avLst/>
          </a:prstGeom>
        </p:spPr>
      </p:pic>
      <p:pic>
        <p:nvPicPr>
          <p:cNvPr id="15" name="Image 13" descr="preencoded.png"/>
          <p:cNvPicPr>
            <a:picLocks noChangeAspect="1"/>
          </p:cNvPicPr>
          <p:nvPr/>
        </p:nvPicPr>
        <p:blipFill>
          <a:blip r:embed="rId13"/>
          <a:stretch>
            <a:fillRect/>
          </a:stretch>
        </p:blipFill>
        <p:spPr>
          <a:xfrm>
            <a:off x="6557963" y="2990850"/>
            <a:ext cx="333375" cy="381000"/>
          </a:xfrm>
          <a:prstGeom prst="rect">
            <a:avLst/>
          </a:prstGeom>
        </p:spPr>
      </p:pic>
      <p:pic>
        <p:nvPicPr>
          <p:cNvPr id="16" name="Image 14" descr="preencoded.png"/>
          <p:cNvPicPr>
            <a:picLocks noChangeAspect="1"/>
          </p:cNvPicPr>
          <p:nvPr/>
        </p:nvPicPr>
        <p:blipFill>
          <a:blip r:embed="rId14"/>
          <a:stretch>
            <a:fillRect/>
          </a:stretch>
        </p:blipFill>
        <p:spPr>
          <a:xfrm>
            <a:off x="381000" y="4229100"/>
            <a:ext cx="11430000" cy="914400"/>
          </a:xfrm>
          <a:prstGeom prst="rect">
            <a:avLst/>
          </a:prstGeom>
        </p:spPr>
      </p:pic>
      <p:pic>
        <p:nvPicPr>
          <p:cNvPr id="17" name="Image 15" descr="preencoded.png"/>
          <p:cNvPicPr>
            <a:picLocks noChangeAspect="1"/>
          </p:cNvPicPr>
          <p:nvPr/>
        </p:nvPicPr>
        <p:blipFill>
          <a:blip r:embed="rId15"/>
          <a:stretch>
            <a:fillRect/>
          </a:stretch>
        </p:blipFill>
        <p:spPr>
          <a:xfrm>
            <a:off x="4876800" y="4391025"/>
            <a:ext cx="247650" cy="285750"/>
          </a:xfrm>
          <a:prstGeom prst="rect">
            <a:avLst/>
          </a:prstGeom>
        </p:spPr>
      </p:pic>
      <p:pic>
        <p:nvPicPr>
          <p:cNvPr id="18" name="Image 16" descr="preencoded.png"/>
          <p:cNvPicPr>
            <a:picLocks noChangeAspect="1"/>
          </p:cNvPicPr>
          <p:nvPr/>
        </p:nvPicPr>
        <p:blipFill>
          <a:blip r:embed="rId16"/>
          <a:stretch>
            <a:fillRect/>
          </a:stretch>
        </p:blipFill>
        <p:spPr>
          <a:xfrm>
            <a:off x="6343650" y="4391025"/>
            <a:ext cx="361950" cy="285750"/>
          </a:xfrm>
          <a:prstGeom prst="rect">
            <a:avLst/>
          </a:prstGeom>
        </p:spPr>
      </p:pic>
      <p:sp>
        <p:nvSpPr>
          <p:cNvPr id="19" name="Text 0"/>
          <p:cNvSpPr/>
          <p:nvPr/>
        </p:nvSpPr>
        <p:spPr>
          <a:xfrm>
            <a:off x="-762000" y="457200"/>
            <a:ext cx="13716000" cy="266700"/>
          </a:xfrm>
          <a:prstGeom prst="rect">
            <a:avLst/>
          </a:prstGeom>
          <a:noFill/>
          <a:ln/>
        </p:spPr>
        <p:txBody>
          <a:bodyPr vert="horz" wrap="square" lIns="0" tIns="0" rIns="0" bIns="0" rtlCol="0" anchor="t"/>
          <a:lstStyle/>
          <a:p>
            <a:pPr marL="0" indent="0" algn="ctr">
              <a:lnSpc>
                <a:spcPts val="2100"/>
              </a:lnSpc>
              <a:buNone/>
            </a:pPr>
            <a:r>
              <a:rPr lang="en-US" dirty="0">
                <a:solidFill>
                  <a:srgbClr val="374151"/>
                </a:solidFill>
                <a:latin typeface="ui-sans-serif" pitchFamily="34" charset="0"/>
                <a:ea typeface="ui-sans-serif" pitchFamily="34" charset="-122"/>
                <a:cs typeface="ui-sans-serif" pitchFamily="34" charset="-120"/>
              </a:rPr>
              <a:t>How Cilium works with eBPF to provide advanced networking and security capabilities for Kubernetes</a:t>
            </a:r>
            <a:endParaRPr lang="en-US" dirty="0"/>
          </a:p>
        </p:txBody>
      </p:sp>
      <p:sp>
        <p:nvSpPr>
          <p:cNvPr id="20" name="Text 1"/>
          <p:cNvSpPr/>
          <p:nvPr/>
        </p:nvSpPr>
        <p:spPr>
          <a:xfrm>
            <a:off x="1333500" y="1181100"/>
            <a:ext cx="53035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Identity-Based Security</a:t>
            </a:r>
            <a:endParaRPr lang="en-US" sz="1500" dirty="0"/>
          </a:p>
        </p:txBody>
      </p:sp>
      <p:sp>
        <p:nvSpPr>
          <p:cNvPr id="21" name="Text 2"/>
          <p:cNvSpPr/>
          <p:nvPr/>
        </p:nvSpPr>
        <p:spPr>
          <a:xfrm>
            <a:off x="1333500" y="1524000"/>
            <a:ext cx="44196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Uses service identity from Kubernetes labels rather than IP addresses, enabling zero-trust security model and micro-segmentation.</a:t>
            </a:r>
            <a:endParaRPr lang="en-US" sz="1200" dirty="0"/>
          </a:p>
        </p:txBody>
      </p:sp>
      <p:sp>
        <p:nvSpPr>
          <p:cNvPr id="22" name="Text 3"/>
          <p:cNvSpPr/>
          <p:nvPr/>
        </p:nvSpPr>
        <p:spPr>
          <a:xfrm>
            <a:off x="7162800" y="1181100"/>
            <a:ext cx="53035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L7 Policy Enforcement</a:t>
            </a:r>
            <a:endParaRPr lang="en-US" sz="1500" dirty="0"/>
          </a:p>
        </p:txBody>
      </p:sp>
      <p:sp>
        <p:nvSpPr>
          <p:cNvPr id="23" name="Text 4"/>
          <p:cNvSpPr/>
          <p:nvPr/>
        </p:nvSpPr>
        <p:spPr>
          <a:xfrm>
            <a:off x="7162800" y="1524000"/>
            <a:ext cx="44196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Provides fine-grained control over application-level protocols like HTTP, gRPC, and Kafka for enhanced security.</a:t>
            </a:r>
            <a:endParaRPr lang="en-US" sz="1200" dirty="0"/>
          </a:p>
        </p:txBody>
      </p:sp>
      <p:sp>
        <p:nvSpPr>
          <p:cNvPr id="24" name="Text 5"/>
          <p:cNvSpPr/>
          <p:nvPr/>
        </p:nvSpPr>
        <p:spPr>
          <a:xfrm>
            <a:off x="1333500" y="2895600"/>
            <a:ext cx="53035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Sidecar-Free Service Mesh</a:t>
            </a:r>
            <a:endParaRPr lang="en-US" sz="1500" dirty="0"/>
          </a:p>
        </p:txBody>
      </p:sp>
      <p:sp>
        <p:nvSpPr>
          <p:cNvPr id="25" name="Text 6"/>
          <p:cNvSpPr/>
          <p:nvPr/>
        </p:nvSpPr>
        <p:spPr>
          <a:xfrm>
            <a:off x="1333500" y="3238500"/>
            <a:ext cx="44196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Integrates service mesh features directly into the eBPF data path, reducing resource consumption and latency.</a:t>
            </a:r>
            <a:endParaRPr lang="en-US" sz="1200" dirty="0"/>
          </a:p>
        </p:txBody>
      </p:sp>
      <p:sp>
        <p:nvSpPr>
          <p:cNvPr id="26" name="Text 7"/>
          <p:cNvSpPr/>
          <p:nvPr/>
        </p:nvSpPr>
        <p:spPr>
          <a:xfrm>
            <a:off x="7162800" y="2895600"/>
            <a:ext cx="53035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Transparent Encryption</a:t>
            </a:r>
            <a:endParaRPr lang="en-US" sz="1500" dirty="0"/>
          </a:p>
        </p:txBody>
      </p:sp>
      <p:sp>
        <p:nvSpPr>
          <p:cNvPr id="27" name="Text 8"/>
          <p:cNvSpPr/>
          <p:nvPr/>
        </p:nvSpPr>
        <p:spPr>
          <a:xfrm>
            <a:off x="7162800" y="3238500"/>
            <a:ext cx="44196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Provides transparent encryption for data-in-transit using WireGuard or IPsec, securing network communication.</a:t>
            </a:r>
            <a:endParaRPr lang="en-US" sz="1200" dirty="0"/>
          </a:p>
        </p:txBody>
      </p:sp>
      <p:sp>
        <p:nvSpPr>
          <p:cNvPr id="28" name="Text 9"/>
          <p:cNvSpPr/>
          <p:nvPr/>
        </p:nvSpPr>
        <p:spPr>
          <a:xfrm>
            <a:off x="-579120" y="4800600"/>
            <a:ext cx="1335024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Cilium's features work together to provide a comprehensive solution for Kubernetes networking and security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81000" y="457200"/>
            <a:ext cx="5562600" cy="4286250"/>
          </a:xfrm>
          <a:prstGeom prst="rect">
            <a:avLst/>
          </a:prstGeom>
        </p:spPr>
      </p:pic>
      <p:pic>
        <p:nvPicPr>
          <p:cNvPr id="5" name="Image 3" descr="preencoded.png"/>
          <p:cNvPicPr>
            <a:picLocks noChangeAspect="1"/>
          </p:cNvPicPr>
          <p:nvPr/>
        </p:nvPicPr>
        <p:blipFill>
          <a:blip r:embed="rId5"/>
          <a:stretch>
            <a:fillRect/>
          </a:stretch>
        </p:blipFill>
        <p:spPr>
          <a:xfrm>
            <a:off x="609600" y="723900"/>
            <a:ext cx="228600" cy="228600"/>
          </a:xfrm>
          <a:prstGeom prst="rect">
            <a:avLst/>
          </a:prstGeom>
        </p:spPr>
      </p:pic>
      <p:pic>
        <p:nvPicPr>
          <p:cNvPr id="6" name="Image 4" descr="preencoded.png"/>
          <p:cNvPicPr>
            <a:picLocks noChangeAspect="1"/>
          </p:cNvPicPr>
          <p:nvPr/>
        </p:nvPicPr>
        <p:blipFill>
          <a:blip r:embed="rId6"/>
          <a:stretch>
            <a:fillRect/>
          </a:stretch>
        </p:blipFill>
        <p:spPr>
          <a:xfrm>
            <a:off x="609600" y="1981200"/>
            <a:ext cx="5105400" cy="1371600"/>
          </a:xfrm>
          <a:prstGeom prst="rect">
            <a:avLst/>
          </a:prstGeom>
        </p:spPr>
      </p:pic>
      <p:pic>
        <p:nvPicPr>
          <p:cNvPr id="7" name="Image 5" descr="preencoded.png"/>
          <p:cNvPicPr>
            <a:picLocks noChangeAspect="1"/>
          </p:cNvPicPr>
          <p:nvPr/>
        </p:nvPicPr>
        <p:blipFill>
          <a:blip r:embed="rId7"/>
          <a:stretch>
            <a:fillRect/>
          </a:stretch>
        </p:blipFill>
        <p:spPr>
          <a:xfrm>
            <a:off x="609600" y="3810000"/>
            <a:ext cx="5105400" cy="704850"/>
          </a:xfrm>
          <a:prstGeom prst="rect">
            <a:avLst/>
          </a:prstGeom>
        </p:spPr>
      </p:pic>
      <p:pic>
        <p:nvPicPr>
          <p:cNvPr id="8" name="Image 6" descr="preencoded.png"/>
          <p:cNvPicPr>
            <a:picLocks noChangeAspect="1"/>
          </p:cNvPicPr>
          <p:nvPr/>
        </p:nvPicPr>
        <p:blipFill>
          <a:blip r:embed="rId8"/>
          <a:stretch>
            <a:fillRect/>
          </a:stretch>
        </p:blipFill>
        <p:spPr>
          <a:xfrm>
            <a:off x="723900" y="3952875"/>
            <a:ext cx="190500" cy="152400"/>
          </a:xfrm>
          <a:prstGeom prst="rect">
            <a:avLst/>
          </a:prstGeom>
        </p:spPr>
      </p:pic>
      <p:pic>
        <p:nvPicPr>
          <p:cNvPr id="9" name="Image 7" descr="preencoded.png"/>
          <p:cNvPicPr>
            <a:picLocks noChangeAspect="1"/>
          </p:cNvPicPr>
          <p:nvPr/>
        </p:nvPicPr>
        <p:blipFill>
          <a:blip r:embed="rId4"/>
          <a:stretch>
            <a:fillRect/>
          </a:stretch>
        </p:blipFill>
        <p:spPr>
          <a:xfrm>
            <a:off x="6248400" y="457200"/>
            <a:ext cx="5562600" cy="4286250"/>
          </a:xfrm>
          <a:prstGeom prst="rect">
            <a:avLst/>
          </a:prstGeom>
        </p:spPr>
      </p:pic>
      <p:pic>
        <p:nvPicPr>
          <p:cNvPr id="10" name="Image 8" descr="preencoded.png"/>
          <p:cNvPicPr>
            <a:picLocks noChangeAspect="1"/>
          </p:cNvPicPr>
          <p:nvPr/>
        </p:nvPicPr>
        <p:blipFill>
          <a:blip r:embed="rId9"/>
          <a:stretch>
            <a:fillRect/>
          </a:stretch>
        </p:blipFill>
        <p:spPr>
          <a:xfrm>
            <a:off x="6477000" y="723900"/>
            <a:ext cx="228600" cy="228600"/>
          </a:xfrm>
          <a:prstGeom prst="rect">
            <a:avLst/>
          </a:prstGeom>
        </p:spPr>
      </p:pic>
      <p:pic>
        <p:nvPicPr>
          <p:cNvPr id="11" name="Image 9" descr="preencoded.png"/>
          <p:cNvPicPr>
            <a:picLocks noChangeAspect="1"/>
          </p:cNvPicPr>
          <p:nvPr/>
        </p:nvPicPr>
        <p:blipFill>
          <a:blip r:embed="rId10"/>
          <a:stretch>
            <a:fillRect/>
          </a:stretch>
        </p:blipFill>
        <p:spPr>
          <a:xfrm>
            <a:off x="6477000" y="1981200"/>
            <a:ext cx="1625501" cy="1257300"/>
          </a:xfrm>
          <a:prstGeom prst="rect">
            <a:avLst/>
          </a:prstGeom>
        </p:spPr>
      </p:pic>
      <p:pic>
        <p:nvPicPr>
          <p:cNvPr id="12" name="Image 10" descr="preencoded.png"/>
          <p:cNvPicPr>
            <a:picLocks noChangeAspect="1"/>
          </p:cNvPicPr>
          <p:nvPr/>
        </p:nvPicPr>
        <p:blipFill>
          <a:blip r:embed="rId11"/>
          <a:stretch>
            <a:fillRect/>
          </a:stretch>
        </p:blipFill>
        <p:spPr>
          <a:xfrm>
            <a:off x="7146875" y="2095500"/>
            <a:ext cx="285750" cy="342900"/>
          </a:xfrm>
          <a:prstGeom prst="rect">
            <a:avLst/>
          </a:prstGeom>
        </p:spPr>
      </p:pic>
      <p:pic>
        <p:nvPicPr>
          <p:cNvPr id="13" name="Image 11" descr="preencoded.png"/>
          <p:cNvPicPr>
            <a:picLocks noChangeAspect="1"/>
          </p:cNvPicPr>
          <p:nvPr/>
        </p:nvPicPr>
        <p:blipFill>
          <a:blip r:embed="rId12"/>
          <a:stretch>
            <a:fillRect/>
          </a:stretch>
        </p:blipFill>
        <p:spPr>
          <a:xfrm>
            <a:off x="8216801" y="1981200"/>
            <a:ext cx="1625650" cy="1257300"/>
          </a:xfrm>
          <a:prstGeom prst="rect">
            <a:avLst/>
          </a:prstGeom>
        </p:spPr>
      </p:pic>
      <p:pic>
        <p:nvPicPr>
          <p:cNvPr id="14" name="Image 12" descr="preencoded.png"/>
          <p:cNvPicPr>
            <a:picLocks noChangeAspect="1"/>
          </p:cNvPicPr>
          <p:nvPr/>
        </p:nvPicPr>
        <p:blipFill>
          <a:blip r:embed="rId13"/>
          <a:stretch>
            <a:fillRect/>
          </a:stretch>
        </p:blipFill>
        <p:spPr>
          <a:xfrm>
            <a:off x="8886676" y="2095500"/>
            <a:ext cx="285750" cy="342900"/>
          </a:xfrm>
          <a:prstGeom prst="rect">
            <a:avLst/>
          </a:prstGeom>
        </p:spPr>
      </p:pic>
      <p:pic>
        <p:nvPicPr>
          <p:cNvPr id="15" name="Image 13" descr="preencoded.png"/>
          <p:cNvPicPr>
            <a:picLocks noChangeAspect="1"/>
          </p:cNvPicPr>
          <p:nvPr/>
        </p:nvPicPr>
        <p:blipFill>
          <a:blip r:embed="rId14"/>
          <a:stretch>
            <a:fillRect/>
          </a:stretch>
        </p:blipFill>
        <p:spPr>
          <a:xfrm>
            <a:off x="9956750" y="1981200"/>
            <a:ext cx="1625650" cy="1257300"/>
          </a:xfrm>
          <a:prstGeom prst="rect">
            <a:avLst/>
          </a:prstGeom>
        </p:spPr>
      </p:pic>
      <p:pic>
        <p:nvPicPr>
          <p:cNvPr id="16" name="Image 14" descr="preencoded.png"/>
          <p:cNvPicPr>
            <a:picLocks noChangeAspect="1"/>
          </p:cNvPicPr>
          <p:nvPr/>
        </p:nvPicPr>
        <p:blipFill>
          <a:blip r:embed="rId15"/>
          <a:stretch>
            <a:fillRect/>
          </a:stretch>
        </p:blipFill>
        <p:spPr>
          <a:xfrm>
            <a:off x="10626626" y="2095500"/>
            <a:ext cx="285750" cy="342900"/>
          </a:xfrm>
          <a:prstGeom prst="rect">
            <a:avLst/>
          </a:prstGeom>
        </p:spPr>
      </p:pic>
      <p:pic>
        <p:nvPicPr>
          <p:cNvPr id="17" name="Image 15" descr="preencoded.png"/>
          <p:cNvPicPr>
            <a:picLocks noChangeAspect="1"/>
          </p:cNvPicPr>
          <p:nvPr/>
        </p:nvPicPr>
        <p:blipFill>
          <a:blip r:embed="rId16"/>
          <a:stretch>
            <a:fillRect/>
          </a:stretch>
        </p:blipFill>
        <p:spPr>
          <a:xfrm>
            <a:off x="6477000" y="3733800"/>
            <a:ext cx="5105400" cy="352425"/>
          </a:xfrm>
          <a:prstGeom prst="rect">
            <a:avLst/>
          </a:prstGeom>
        </p:spPr>
      </p:pic>
      <p:pic>
        <p:nvPicPr>
          <p:cNvPr id="18" name="Image 16" descr="preencoded.png"/>
          <p:cNvPicPr>
            <a:picLocks noChangeAspect="1"/>
          </p:cNvPicPr>
          <p:nvPr/>
        </p:nvPicPr>
        <p:blipFill>
          <a:blip r:embed="rId17"/>
          <a:stretch>
            <a:fillRect/>
          </a:stretch>
        </p:blipFill>
        <p:spPr>
          <a:xfrm>
            <a:off x="6553200" y="3829050"/>
            <a:ext cx="171450" cy="133350"/>
          </a:xfrm>
          <a:prstGeom prst="rect">
            <a:avLst/>
          </a:prstGeom>
        </p:spPr>
      </p:pic>
      <p:pic>
        <p:nvPicPr>
          <p:cNvPr id="19" name="Image 17" descr="preencoded.png"/>
          <p:cNvPicPr>
            <a:picLocks noChangeAspect="1"/>
          </p:cNvPicPr>
          <p:nvPr/>
        </p:nvPicPr>
        <p:blipFill>
          <a:blip r:embed="rId18"/>
          <a:stretch>
            <a:fillRect/>
          </a:stretch>
        </p:blipFill>
        <p:spPr>
          <a:xfrm>
            <a:off x="6477000" y="4162425"/>
            <a:ext cx="5105400" cy="352425"/>
          </a:xfrm>
          <a:prstGeom prst="rect">
            <a:avLst/>
          </a:prstGeom>
        </p:spPr>
      </p:pic>
      <p:pic>
        <p:nvPicPr>
          <p:cNvPr id="20" name="Image 18" descr="preencoded.png"/>
          <p:cNvPicPr>
            <a:picLocks noChangeAspect="1"/>
          </p:cNvPicPr>
          <p:nvPr/>
        </p:nvPicPr>
        <p:blipFill>
          <a:blip r:embed="rId17"/>
          <a:stretch>
            <a:fillRect/>
          </a:stretch>
        </p:blipFill>
        <p:spPr>
          <a:xfrm>
            <a:off x="6553200" y="4257675"/>
            <a:ext cx="171450" cy="133350"/>
          </a:xfrm>
          <a:prstGeom prst="rect">
            <a:avLst/>
          </a:prstGeom>
        </p:spPr>
      </p:pic>
      <p:pic>
        <p:nvPicPr>
          <p:cNvPr id="21" name="Image 19" descr="preencoded.png"/>
          <p:cNvPicPr>
            <a:picLocks noChangeAspect="1"/>
          </p:cNvPicPr>
          <p:nvPr/>
        </p:nvPicPr>
        <p:blipFill>
          <a:blip r:embed="rId19"/>
          <a:stretch>
            <a:fillRect/>
          </a:stretch>
        </p:blipFill>
        <p:spPr>
          <a:xfrm>
            <a:off x="3943350" y="4895850"/>
            <a:ext cx="820192" cy="266700"/>
          </a:xfrm>
          <a:prstGeom prst="rect">
            <a:avLst/>
          </a:prstGeom>
        </p:spPr>
      </p:pic>
      <p:pic>
        <p:nvPicPr>
          <p:cNvPr id="22" name="Image 20" descr="preencoded.png"/>
          <p:cNvPicPr>
            <a:picLocks noChangeAspect="1"/>
          </p:cNvPicPr>
          <p:nvPr/>
        </p:nvPicPr>
        <p:blipFill>
          <a:blip r:embed="rId20"/>
          <a:stretch>
            <a:fillRect/>
          </a:stretch>
        </p:blipFill>
        <p:spPr>
          <a:xfrm>
            <a:off x="4839742" y="4953000"/>
            <a:ext cx="133350" cy="152400"/>
          </a:xfrm>
          <a:prstGeom prst="rect">
            <a:avLst/>
          </a:prstGeom>
        </p:spPr>
      </p:pic>
      <p:pic>
        <p:nvPicPr>
          <p:cNvPr id="23" name="Image 21" descr="preencoded.png"/>
          <p:cNvPicPr>
            <a:picLocks noChangeAspect="1"/>
          </p:cNvPicPr>
          <p:nvPr/>
        </p:nvPicPr>
        <p:blipFill>
          <a:blip r:embed="rId21"/>
          <a:stretch>
            <a:fillRect/>
          </a:stretch>
        </p:blipFill>
        <p:spPr>
          <a:xfrm>
            <a:off x="5049292" y="4895850"/>
            <a:ext cx="1416100" cy="266700"/>
          </a:xfrm>
          <a:prstGeom prst="rect">
            <a:avLst/>
          </a:prstGeom>
        </p:spPr>
      </p:pic>
      <p:pic>
        <p:nvPicPr>
          <p:cNvPr id="24" name="Image 22" descr="preencoded.png"/>
          <p:cNvPicPr>
            <a:picLocks noChangeAspect="1"/>
          </p:cNvPicPr>
          <p:nvPr/>
        </p:nvPicPr>
        <p:blipFill>
          <a:blip r:embed="rId22"/>
          <a:stretch>
            <a:fillRect/>
          </a:stretch>
        </p:blipFill>
        <p:spPr>
          <a:xfrm>
            <a:off x="5163592" y="4953000"/>
            <a:ext cx="133350" cy="133350"/>
          </a:xfrm>
          <a:prstGeom prst="rect">
            <a:avLst/>
          </a:prstGeom>
        </p:spPr>
      </p:pic>
      <p:pic>
        <p:nvPicPr>
          <p:cNvPr id="25" name="Image 23" descr="preencoded.png"/>
          <p:cNvPicPr>
            <a:picLocks noChangeAspect="1"/>
          </p:cNvPicPr>
          <p:nvPr/>
        </p:nvPicPr>
        <p:blipFill>
          <a:blip r:embed="rId20"/>
          <a:stretch>
            <a:fillRect/>
          </a:stretch>
        </p:blipFill>
        <p:spPr>
          <a:xfrm>
            <a:off x="6541591" y="4953000"/>
            <a:ext cx="133350" cy="152400"/>
          </a:xfrm>
          <a:prstGeom prst="rect">
            <a:avLst/>
          </a:prstGeom>
        </p:spPr>
      </p:pic>
      <p:pic>
        <p:nvPicPr>
          <p:cNvPr id="26" name="Image 24" descr="preencoded.png"/>
          <p:cNvPicPr>
            <a:picLocks noChangeAspect="1"/>
          </p:cNvPicPr>
          <p:nvPr/>
        </p:nvPicPr>
        <p:blipFill>
          <a:blip r:embed="rId23"/>
          <a:stretch>
            <a:fillRect/>
          </a:stretch>
        </p:blipFill>
        <p:spPr>
          <a:xfrm>
            <a:off x="6751141" y="4895850"/>
            <a:ext cx="1497360" cy="266700"/>
          </a:xfrm>
          <a:prstGeom prst="rect">
            <a:avLst/>
          </a:prstGeom>
        </p:spPr>
      </p:pic>
      <p:pic>
        <p:nvPicPr>
          <p:cNvPr id="27" name="Image 25" descr="preencoded.png"/>
          <p:cNvPicPr>
            <a:picLocks noChangeAspect="1"/>
          </p:cNvPicPr>
          <p:nvPr/>
        </p:nvPicPr>
        <p:blipFill>
          <a:blip r:embed="rId24"/>
          <a:stretch>
            <a:fillRect/>
          </a:stretch>
        </p:blipFill>
        <p:spPr>
          <a:xfrm>
            <a:off x="6865441" y="4953000"/>
            <a:ext cx="133350" cy="133350"/>
          </a:xfrm>
          <a:prstGeom prst="rect">
            <a:avLst/>
          </a:prstGeom>
        </p:spPr>
      </p:pic>
      <p:sp>
        <p:nvSpPr>
          <p:cNvPr id="28" name="Text 0"/>
          <p:cNvSpPr/>
          <p:nvPr/>
        </p:nvSpPr>
        <p:spPr>
          <a:xfrm>
            <a:off x="952500" y="6858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Identity-Based Security</a:t>
            </a:r>
            <a:endParaRPr lang="en-US" sz="1800" dirty="0"/>
          </a:p>
        </p:txBody>
      </p:sp>
      <p:sp>
        <p:nvSpPr>
          <p:cNvPr id="29" name="Text 1"/>
          <p:cNvSpPr/>
          <p:nvPr/>
        </p:nvSpPr>
        <p:spPr>
          <a:xfrm>
            <a:off x="609600" y="1143000"/>
            <a:ext cx="5105400" cy="6858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Cilium implements a zero-trust security model using service identity derived from Kubernetes labels rather than traditional IP-based policies.</a:t>
            </a:r>
            <a:endParaRPr lang="en-US" sz="1200" dirty="0"/>
          </a:p>
        </p:txBody>
      </p:sp>
      <p:sp>
        <p:nvSpPr>
          <p:cNvPr id="30" name="Text 2"/>
          <p:cNvSpPr/>
          <p:nvPr/>
        </p:nvSpPr>
        <p:spPr>
          <a:xfrm>
            <a:off x="762000" y="2133600"/>
            <a:ext cx="48006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Key Benefits:</a:t>
            </a:r>
            <a:endParaRPr lang="en-US" sz="1200" dirty="0"/>
          </a:p>
        </p:txBody>
      </p:sp>
      <p:sp>
        <p:nvSpPr>
          <p:cNvPr id="31" name="Text 3"/>
          <p:cNvSpPr/>
          <p:nvPr/>
        </p:nvSpPr>
        <p:spPr>
          <a:xfrm>
            <a:off x="800100" y="2438400"/>
            <a:ext cx="57150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Network policies based on workload role and purpose</a:t>
            </a:r>
            <a:endParaRPr lang="en-US" sz="1200" dirty="0"/>
          </a:p>
        </p:txBody>
      </p:sp>
      <p:sp>
        <p:nvSpPr>
          <p:cNvPr id="32" name="Text 4"/>
          <p:cNvSpPr/>
          <p:nvPr/>
        </p:nvSpPr>
        <p:spPr>
          <a:xfrm>
            <a:off x="800100" y="2705100"/>
            <a:ext cx="57150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Label-based security without relying on IP addresses</a:t>
            </a:r>
            <a:endParaRPr lang="en-US" sz="1200" dirty="0"/>
          </a:p>
        </p:txBody>
      </p:sp>
      <p:sp>
        <p:nvSpPr>
          <p:cNvPr id="33" name="Text 5"/>
          <p:cNvSpPr/>
          <p:nvPr/>
        </p:nvSpPr>
        <p:spPr>
          <a:xfrm>
            <a:off x="800100" y="2971800"/>
            <a:ext cx="57150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Granular control over service communication</a:t>
            </a:r>
            <a:endParaRPr lang="en-US" sz="1200" dirty="0"/>
          </a:p>
        </p:txBody>
      </p:sp>
      <p:sp>
        <p:nvSpPr>
          <p:cNvPr id="34" name="Text 6"/>
          <p:cNvSpPr/>
          <p:nvPr/>
        </p:nvSpPr>
        <p:spPr>
          <a:xfrm>
            <a:off x="609600" y="3505200"/>
            <a:ext cx="51054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Example Policy:</a:t>
            </a:r>
            <a:endParaRPr lang="en-US" sz="1200" dirty="0"/>
          </a:p>
        </p:txBody>
      </p:sp>
      <p:sp>
        <p:nvSpPr>
          <p:cNvPr id="35" name="Text 7"/>
          <p:cNvSpPr/>
          <p:nvPr/>
        </p:nvSpPr>
        <p:spPr>
          <a:xfrm>
            <a:off x="990600" y="3924300"/>
            <a:ext cx="4876800" cy="47625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 </a:t>
            </a:r>
            <a:r>
              <a:rPr lang="en-US" sz="1200" dirty="0">
                <a:solidFill>
                  <a:srgbClr val="374151"/>
                </a:solidFill>
                <a:latin typeface="ui-monospace" pitchFamily="34" charset="0"/>
                <a:ea typeface="ui-monospace" pitchFamily="34" charset="-122"/>
                <a:cs typeface="ui-monospace" pitchFamily="34" charset="-120"/>
              </a:rPr>
              <a:t>Allow frontend pods to communicate with backend pods based on their labels</a:t>
            </a:r>
            <a:endParaRPr lang="en-US" sz="1200" dirty="0"/>
          </a:p>
        </p:txBody>
      </p:sp>
      <p:sp>
        <p:nvSpPr>
          <p:cNvPr id="36" name="Text 8"/>
          <p:cNvSpPr/>
          <p:nvPr/>
        </p:nvSpPr>
        <p:spPr>
          <a:xfrm>
            <a:off x="6819900" y="6858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Layer 7 Policy Enforcement</a:t>
            </a:r>
            <a:endParaRPr lang="en-US" sz="1800" dirty="0"/>
          </a:p>
        </p:txBody>
      </p:sp>
      <p:sp>
        <p:nvSpPr>
          <p:cNvPr id="37" name="Text 9"/>
          <p:cNvSpPr/>
          <p:nvPr/>
        </p:nvSpPr>
        <p:spPr>
          <a:xfrm>
            <a:off x="6477000" y="1143000"/>
            <a:ext cx="5105400" cy="6858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Cilium provides fine-grained control over application-level protocols, enabling security policies that inspect and filter traffic based on application-specific attributes.</a:t>
            </a:r>
            <a:endParaRPr lang="en-US" sz="1200" dirty="0"/>
          </a:p>
        </p:txBody>
      </p:sp>
      <p:sp>
        <p:nvSpPr>
          <p:cNvPr id="38" name="Text 10"/>
          <p:cNvSpPr/>
          <p:nvPr/>
        </p:nvSpPr>
        <p:spPr>
          <a:xfrm>
            <a:off x="6591300" y="2514600"/>
            <a:ext cx="1396901"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1F2937"/>
                </a:solidFill>
                <a:latin typeface="ui-sans-serif" pitchFamily="34" charset="0"/>
                <a:ea typeface="ui-sans-serif" pitchFamily="34" charset="-122"/>
                <a:cs typeface="ui-sans-serif" pitchFamily="34" charset="-120"/>
              </a:rPr>
              <a:t>HTTP</a:t>
            </a:r>
            <a:endParaRPr lang="en-US" sz="1200" dirty="0"/>
          </a:p>
        </p:txBody>
      </p:sp>
      <p:sp>
        <p:nvSpPr>
          <p:cNvPr id="39" name="Text 11"/>
          <p:cNvSpPr/>
          <p:nvPr/>
        </p:nvSpPr>
        <p:spPr>
          <a:xfrm>
            <a:off x="6591300" y="2743200"/>
            <a:ext cx="1396901" cy="381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GET, POST, PUT, DELETE</a:t>
            </a:r>
            <a:endParaRPr lang="en-US" sz="1050" dirty="0"/>
          </a:p>
        </p:txBody>
      </p:sp>
      <p:sp>
        <p:nvSpPr>
          <p:cNvPr id="40" name="Text 12"/>
          <p:cNvSpPr/>
          <p:nvPr/>
        </p:nvSpPr>
        <p:spPr>
          <a:xfrm>
            <a:off x="8331101" y="2514600"/>
            <a:ext cx="1397050"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1F2937"/>
                </a:solidFill>
                <a:latin typeface="ui-sans-serif" pitchFamily="34" charset="0"/>
                <a:ea typeface="ui-sans-serif" pitchFamily="34" charset="-122"/>
                <a:cs typeface="ui-sans-serif" pitchFamily="34" charset="-120"/>
              </a:rPr>
              <a:t>gRPC</a:t>
            </a:r>
            <a:endParaRPr lang="en-US" sz="1200" dirty="0"/>
          </a:p>
        </p:txBody>
      </p:sp>
      <p:sp>
        <p:nvSpPr>
          <p:cNvPr id="41" name="Text 13"/>
          <p:cNvSpPr/>
          <p:nvPr/>
        </p:nvSpPr>
        <p:spPr>
          <a:xfrm>
            <a:off x="8331101" y="2743200"/>
            <a:ext cx="1397050" cy="3810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Method-level controls</a:t>
            </a:r>
            <a:endParaRPr lang="en-US" sz="1050" dirty="0"/>
          </a:p>
        </p:txBody>
      </p:sp>
      <p:sp>
        <p:nvSpPr>
          <p:cNvPr id="42" name="Text 14"/>
          <p:cNvSpPr/>
          <p:nvPr/>
        </p:nvSpPr>
        <p:spPr>
          <a:xfrm>
            <a:off x="10071050" y="2514600"/>
            <a:ext cx="1397050"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1F2937"/>
                </a:solidFill>
                <a:latin typeface="ui-sans-serif" pitchFamily="34" charset="0"/>
                <a:ea typeface="ui-sans-serif" pitchFamily="34" charset="-122"/>
                <a:cs typeface="ui-sans-serif" pitchFamily="34" charset="-120"/>
              </a:rPr>
              <a:t>Kafka</a:t>
            </a:r>
            <a:endParaRPr lang="en-US" sz="1200" dirty="0"/>
          </a:p>
        </p:txBody>
      </p:sp>
      <p:sp>
        <p:nvSpPr>
          <p:cNvPr id="43" name="Text 15"/>
          <p:cNvSpPr/>
          <p:nvPr/>
        </p:nvSpPr>
        <p:spPr>
          <a:xfrm>
            <a:off x="9931345" y="2743200"/>
            <a:ext cx="167646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Topic access control</a:t>
            </a:r>
            <a:endParaRPr lang="en-US" sz="1050" dirty="0"/>
          </a:p>
        </p:txBody>
      </p:sp>
      <p:sp>
        <p:nvSpPr>
          <p:cNvPr id="44" name="Text 16"/>
          <p:cNvSpPr/>
          <p:nvPr/>
        </p:nvSpPr>
        <p:spPr>
          <a:xfrm>
            <a:off x="6477000" y="3429000"/>
            <a:ext cx="51054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F2937"/>
                </a:solidFill>
                <a:latin typeface="ui-sans-serif" pitchFamily="34" charset="0"/>
                <a:ea typeface="ui-sans-serif" pitchFamily="34" charset="-122"/>
                <a:cs typeface="ui-sans-serif" pitchFamily="34" charset="-120"/>
              </a:rPr>
              <a:t>Example Policies:</a:t>
            </a:r>
            <a:endParaRPr lang="en-US" sz="1200" dirty="0"/>
          </a:p>
        </p:txBody>
      </p:sp>
      <p:sp>
        <p:nvSpPr>
          <p:cNvPr id="45" name="Text 17"/>
          <p:cNvSpPr/>
          <p:nvPr/>
        </p:nvSpPr>
        <p:spPr>
          <a:xfrm>
            <a:off x="6800850" y="3810000"/>
            <a:ext cx="5943600" cy="200025"/>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 </a:t>
            </a:r>
            <a:r>
              <a:rPr lang="en-US" sz="1050" dirty="0">
                <a:solidFill>
                  <a:srgbClr val="374151"/>
                </a:solidFill>
                <a:latin typeface="ui-monospace" pitchFamily="34" charset="0"/>
                <a:ea typeface="ui-monospace" pitchFamily="34" charset="-122"/>
                <a:cs typeface="ui-monospace" pitchFamily="34" charset="-120"/>
              </a:rPr>
              <a:t>Allow HTTP GET requests to /api/v1/data</a:t>
            </a:r>
            <a:endParaRPr lang="en-US" sz="1050" dirty="0"/>
          </a:p>
        </p:txBody>
      </p:sp>
      <p:sp>
        <p:nvSpPr>
          <p:cNvPr id="46" name="Text 18"/>
          <p:cNvSpPr/>
          <p:nvPr/>
        </p:nvSpPr>
        <p:spPr>
          <a:xfrm>
            <a:off x="6800850" y="4238625"/>
            <a:ext cx="4953000" cy="200025"/>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 </a:t>
            </a:r>
            <a:r>
              <a:rPr lang="en-US" sz="1050" dirty="0">
                <a:solidFill>
                  <a:srgbClr val="374151"/>
                </a:solidFill>
                <a:latin typeface="ui-monospace" pitchFamily="34" charset="0"/>
                <a:ea typeface="ui-monospace" pitchFamily="34" charset="-122"/>
                <a:cs typeface="ui-monospace" pitchFamily="34" charset="-120"/>
              </a:rPr>
              <a:t>Restrict Kafka topic access</a:t>
            </a:r>
            <a:endParaRPr lang="en-US" sz="1050" dirty="0"/>
          </a:p>
        </p:txBody>
      </p:sp>
      <p:sp>
        <p:nvSpPr>
          <p:cNvPr id="47" name="Text 19"/>
          <p:cNvSpPr/>
          <p:nvPr/>
        </p:nvSpPr>
        <p:spPr>
          <a:xfrm>
            <a:off x="4095750" y="4895850"/>
            <a:ext cx="984230" cy="266700"/>
          </a:xfrm>
          <a:prstGeom prst="rect">
            <a:avLst/>
          </a:prstGeom>
          <a:noFill/>
          <a:ln/>
        </p:spPr>
        <p:txBody>
          <a:bodyPr vert="horz" wrap="square" lIns="0" tIns="0" rIns="0" bIns="0" rtlCol="0" anchor="t"/>
          <a:lstStyle/>
          <a:p>
            <a:pPr marL="0" indent="0">
              <a:lnSpc>
                <a:spcPts val="1500"/>
              </a:lnSpc>
              <a:buNone/>
            </a:pPr>
            <a:r>
              <a:rPr lang="en-US" sz="1050" dirty="0">
                <a:solidFill>
                  <a:srgbClr val="115E59"/>
                </a:solidFill>
                <a:latin typeface="ui-sans-serif" pitchFamily="34" charset="0"/>
                <a:ea typeface="ui-sans-serif" pitchFamily="34" charset="-122"/>
                <a:cs typeface="ui-sans-serif" pitchFamily="34" charset="-120"/>
              </a:rPr>
              <a:t> Identity</a:t>
            </a:r>
            <a:endParaRPr lang="en-US" sz="1050" dirty="0"/>
          </a:p>
        </p:txBody>
      </p:sp>
      <p:sp>
        <p:nvSpPr>
          <p:cNvPr id="48" name="Text 20"/>
          <p:cNvSpPr/>
          <p:nvPr/>
        </p:nvSpPr>
        <p:spPr>
          <a:xfrm>
            <a:off x="5335042" y="4895850"/>
            <a:ext cx="1699320" cy="266700"/>
          </a:xfrm>
          <a:prstGeom prst="rect">
            <a:avLst/>
          </a:prstGeom>
          <a:noFill/>
          <a:ln/>
        </p:spPr>
        <p:txBody>
          <a:bodyPr vert="horz" wrap="square" lIns="0" tIns="0" rIns="0" bIns="0" rtlCol="0" anchor="t"/>
          <a:lstStyle/>
          <a:p>
            <a:pPr marL="0" indent="0">
              <a:lnSpc>
                <a:spcPts val="1500"/>
              </a:lnSpc>
              <a:buNone/>
            </a:pPr>
            <a:r>
              <a:rPr lang="en-US" sz="1050" dirty="0">
                <a:solidFill>
                  <a:srgbClr val="6B21A8"/>
                </a:solidFill>
                <a:latin typeface="ui-sans-serif" pitchFamily="34" charset="0"/>
                <a:ea typeface="ui-sans-serif" pitchFamily="34" charset="-122"/>
                <a:cs typeface="ui-sans-serif" pitchFamily="34" charset="-120"/>
              </a:rPr>
              <a:t> Security Policy</a:t>
            </a:r>
            <a:endParaRPr lang="en-US" sz="1050" dirty="0"/>
          </a:p>
        </p:txBody>
      </p:sp>
      <p:sp>
        <p:nvSpPr>
          <p:cNvPr id="49" name="Text 21"/>
          <p:cNvSpPr/>
          <p:nvPr/>
        </p:nvSpPr>
        <p:spPr>
          <a:xfrm>
            <a:off x="7036891" y="4895850"/>
            <a:ext cx="1796832" cy="266700"/>
          </a:xfrm>
          <a:prstGeom prst="rect">
            <a:avLst/>
          </a:prstGeom>
          <a:noFill/>
          <a:ln/>
        </p:spPr>
        <p:txBody>
          <a:bodyPr vert="horz" wrap="square" lIns="0" tIns="0" rIns="0" bIns="0" rtlCol="0" anchor="t"/>
          <a:lstStyle/>
          <a:p>
            <a:pPr marL="0" indent="0">
              <a:lnSpc>
                <a:spcPts val="1500"/>
              </a:lnSpc>
              <a:buNone/>
            </a:pPr>
            <a:r>
              <a:rPr lang="en-US" sz="1050" dirty="0">
                <a:solidFill>
                  <a:srgbClr val="1E40AF"/>
                </a:solidFill>
                <a:latin typeface="ui-sans-serif" pitchFamily="34" charset="0"/>
                <a:ea typeface="ui-sans-serif" pitchFamily="34" charset="-122"/>
                <a:cs typeface="ui-sans-serif" pitchFamily="34" charset="-120"/>
              </a:rPr>
              <a:t> L7 Enforcement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04800" y="381000"/>
            <a:ext cx="5676900" cy="5524500"/>
          </a:xfrm>
          <a:prstGeom prst="rect">
            <a:avLst/>
          </a:prstGeom>
        </p:spPr>
      </p:pic>
      <p:pic>
        <p:nvPicPr>
          <p:cNvPr id="5" name="Image 3" descr="preencoded.png"/>
          <p:cNvPicPr>
            <a:picLocks noChangeAspect="1"/>
          </p:cNvPicPr>
          <p:nvPr/>
        </p:nvPicPr>
        <p:blipFill>
          <a:blip r:embed="rId5"/>
          <a:stretch>
            <a:fillRect/>
          </a:stretch>
        </p:blipFill>
        <p:spPr>
          <a:xfrm>
            <a:off x="533400" y="647700"/>
            <a:ext cx="257175" cy="228600"/>
          </a:xfrm>
          <a:prstGeom prst="rect">
            <a:avLst/>
          </a:prstGeom>
        </p:spPr>
      </p:pic>
      <p:pic>
        <p:nvPicPr>
          <p:cNvPr id="6" name="Image 4" descr="preencoded.png"/>
          <p:cNvPicPr>
            <a:picLocks noChangeAspect="1"/>
          </p:cNvPicPr>
          <p:nvPr/>
        </p:nvPicPr>
        <p:blipFill>
          <a:blip r:embed="rId6"/>
          <a:stretch>
            <a:fillRect/>
          </a:stretch>
        </p:blipFill>
        <p:spPr>
          <a:xfrm>
            <a:off x="685800" y="1828800"/>
            <a:ext cx="609600" cy="609600"/>
          </a:xfrm>
          <a:prstGeom prst="rect">
            <a:avLst/>
          </a:prstGeom>
        </p:spPr>
      </p:pic>
      <p:pic>
        <p:nvPicPr>
          <p:cNvPr id="7" name="Image 5" descr="preencoded.png"/>
          <p:cNvPicPr>
            <a:picLocks noChangeAspect="1"/>
          </p:cNvPicPr>
          <p:nvPr/>
        </p:nvPicPr>
        <p:blipFill>
          <a:blip r:embed="rId7"/>
          <a:stretch>
            <a:fillRect/>
          </a:stretch>
        </p:blipFill>
        <p:spPr>
          <a:xfrm>
            <a:off x="876300" y="1981200"/>
            <a:ext cx="228600" cy="304800"/>
          </a:xfrm>
          <a:prstGeom prst="rect">
            <a:avLst/>
          </a:prstGeom>
        </p:spPr>
      </p:pic>
      <p:pic>
        <p:nvPicPr>
          <p:cNvPr id="8" name="Image 6" descr="preencoded.png"/>
          <p:cNvPicPr>
            <a:picLocks noChangeAspect="1"/>
          </p:cNvPicPr>
          <p:nvPr/>
        </p:nvPicPr>
        <p:blipFill>
          <a:blip r:embed="rId8"/>
          <a:stretch>
            <a:fillRect/>
          </a:stretch>
        </p:blipFill>
        <p:spPr>
          <a:xfrm>
            <a:off x="1295400" y="2114550"/>
            <a:ext cx="381000" cy="38100"/>
          </a:xfrm>
          <a:prstGeom prst="rect">
            <a:avLst/>
          </a:prstGeom>
        </p:spPr>
      </p:pic>
      <p:pic>
        <p:nvPicPr>
          <p:cNvPr id="9" name="Image 7" descr="preencoded.png"/>
          <p:cNvPicPr>
            <a:picLocks noChangeAspect="1"/>
          </p:cNvPicPr>
          <p:nvPr/>
        </p:nvPicPr>
        <p:blipFill>
          <a:blip r:embed="rId9"/>
          <a:stretch>
            <a:fillRect/>
          </a:stretch>
        </p:blipFill>
        <p:spPr>
          <a:xfrm>
            <a:off x="1676400" y="1828800"/>
            <a:ext cx="609600" cy="609600"/>
          </a:xfrm>
          <a:prstGeom prst="rect">
            <a:avLst/>
          </a:prstGeom>
        </p:spPr>
      </p:pic>
      <p:pic>
        <p:nvPicPr>
          <p:cNvPr id="10" name="Image 8" descr="preencoded.png"/>
          <p:cNvPicPr>
            <a:picLocks noChangeAspect="1"/>
          </p:cNvPicPr>
          <p:nvPr/>
        </p:nvPicPr>
        <p:blipFill>
          <a:blip r:embed="rId10"/>
          <a:stretch>
            <a:fillRect/>
          </a:stretch>
        </p:blipFill>
        <p:spPr>
          <a:xfrm>
            <a:off x="3028950" y="2124075"/>
            <a:ext cx="228600" cy="228600"/>
          </a:xfrm>
          <a:prstGeom prst="rect">
            <a:avLst/>
          </a:prstGeom>
        </p:spPr>
      </p:pic>
      <p:pic>
        <p:nvPicPr>
          <p:cNvPr id="11" name="Image 9" descr="preencoded.png"/>
          <p:cNvPicPr>
            <a:picLocks noChangeAspect="1"/>
          </p:cNvPicPr>
          <p:nvPr/>
        </p:nvPicPr>
        <p:blipFill>
          <a:blip r:embed="rId11"/>
          <a:stretch>
            <a:fillRect/>
          </a:stretch>
        </p:blipFill>
        <p:spPr>
          <a:xfrm>
            <a:off x="4000500" y="1828800"/>
            <a:ext cx="609600" cy="609600"/>
          </a:xfrm>
          <a:prstGeom prst="rect">
            <a:avLst/>
          </a:prstGeom>
        </p:spPr>
      </p:pic>
      <p:pic>
        <p:nvPicPr>
          <p:cNvPr id="12" name="Image 10" descr="preencoded.png"/>
          <p:cNvPicPr>
            <a:picLocks noChangeAspect="1"/>
          </p:cNvPicPr>
          <p:nvPr/>
        </p:nvPicPr>
        <p:blipFill>
          <a:blip r:embed="rId7"/>
          <a:stretch>
            <a:fillRect/>
          </a:stretch>
        </p:blipFill>
        <p:spPr>
          <a:xfrm>
            <a:off x="4191000" y="1981200"/>
            <a:ext cx="228600" cy="304800"/>
          </a:xfrm>
          <a:prstGeom prst="rect">
            <a:avLst/>
          </a:prstGeom>
        </p:spPr>
      </p:pic>
      <p:pic>
        <p:nvPicPr>
          <p:cNvPr id="13" name="Image 11" descr="preencoded.png"/>
          <p:cNvPicPr>
            <a:picLocks noChangeAspect="1"/>
          </p:cNvPicPr>
          <p:nvPr/>
        </p:nvPicPr>
        <p:blipFill>
          <a:blip r:embed="rId12"/>
          <a:stretch>
            <a:fillRect/>
          </a:stretch>
        </p:blipFill>
        <p:spPr>
          <a:xfrm>
            <a:off x="4610100" y="2114550"/>
            <a:ext cx="381000" cy="38100"/>
          </a:xfrm>
          <a:prstGeom prst="rect">
            <a:avLst/>
          </a:prstGeom>
        </p:spPr>
      </p:pic>
      <p:pic>
        <p:nvPicPr>
          <p:cNvPr id="14" name="Image 12" descr="preencoded.png"/>
          <p:cNvPicPr>
            <a:picLocks noChangeAspect="1"/>
          </p:cNvPicPr>
          <p:nvPr/>
        </p:nvPicPr>
        <p:blipFill>
          <a:blip r:embed="rId13"/>
          <a:stretch>
            <a:fillRect/>
          </a:stretch>
        </p:blipFill>
        <p:spPr>
          <a:xfrm>
            <a:off x="4991100" y="1828800"/>
            <a:ext cx="609600" cy="609600"/>
          </a:xfrm>
          <a:prstGeom prst="rect">
            <a:avLst/>
          </a:prstGeom>
        </p:spPr>
      </p:pic>
      <p:pic>
        <p:nvPicPr>
          <p:cNvPr id="15" name="Image 13" descr="preencoded.png"/>
          <p:cNvPicPr>
            <a:picLocks noChangeAspect="1"/>
          </p:cNvPicPr>
          <p:nvPr/>
        </p:nvPicPr>
        <p:blipFill>
          <a:blip r:embed="rId14"/>
          <a:stretch>
            <a:fillRect/>
          </a:stretch>
        </p:blipFill>
        <p:spPr>
          <a:xfrm>
            <a:off x="5210175" y="2038350"/>
            <a:ext cx="171450" cy="190500"/>
          </a:xfrm>
          <a:prstGeom prst="rect">
            <a:avLst/>
          </a:prstGeom>
        </p:spPr>
      </p:pic>
      <p:pic>
        <p:nvPicPr>
          <p:cNvPr id="16" name="Image 14" descr="preencoded.png"/>
          <p:cNvPicPr>
            <a:picLocks noChangeAspect="1"/>
          </p:cNvPicPr>
          <p:nvPr/>
        </p:nvPicPr>
        <p:blipFill>
          <a:blip r:embed="rId15"/>
          <a:stretch>
            <a:fillRect/>
          </a:stretch>
        </p:blipFill>
        <p:spPr>
          <a:xfrm>
            <a:off x="609600" y="3505200"/>
            <a:ext cx="152400" cy="152400"/>
          </a:xfrm>
          <a:prstGeom prst="rect">
            <a:avLst/>
          </a:prstGeom>
        </p:spPr>
      </p:pic>
      <p:pic>
        <p:nvPicPr>
          <p:cNvPr id="17" name="Image 15" descr="preencoded.png"/>
          <p:cNvPicPr>
            <a:picLocks noChangeAspect="1"/>
          </p:cNvPicPr>
          <p:nvPr/>
        </p:nvPicPr>
        <p:blipFill>
          <a:blip r:embed="rId15"/>
          <a:stretch>
            <a:fillRect/>
          </a:stretch>
        </p:blipFill>
        <p:spPr>
          <a:xfrm>
            <a:off x="609600" y="3962400"/>
            <a:ext cx="152400" cy="152400"/>
          </a:xfrm>
          <a:prstGeom prst="rect">
            <a:avLst/>
          </a:prstGeom>
        </p:spPr>
      </p:pic>
      <p:pic>
        <p:nvPicPr>
          <p:cNvPr id="18" name="Image 16" descr="preencoded.png"/>
          <p:cNvPicPr>
            <a:picLocks noChangeAspect="1"/>
          </p:cNvPicPr>
          <p:nvPr/>
        </p:nvPicPr>
        <p:blipFill>
          <a:blip r:embed="rId15"/>
          <a:stretch>
            <a:fillRect/>
          </a:stretch>
        </p:blipFill>
        <p:spPr>
          <a:xfrm>
            <a:off x="609600" y="4419600"/>
            <a:ext cx="152400" cy="152400"/>
          </a:xfrm>
          <a:prstGeom prst="rect">
            <a:avLst/>
          </a:prstGeom>
        </p:spPr>
      </p:pic>
      <p:pic>
        <p:nvPicPr>
          <p:cNvPr id="19" name="Image 17" descr="preencoded.png"/>
          <p:cNvPicPr>
            <a:picLocks noChangeAspect="1"/>
          </p:cNvPicPr>
          <p:nvPr/>
        </p:nvPicPr>
        <p:blipFill>
          <a:blip r:embed="rId4"/>
          <a:stretch>
            <a:fillRect/>
          </a:stretch>
        </p:blipFill>
        <p:spPr>
          <a:xfrm>
            <a:off x="6210300" y="381000"/>
            <a:ext cx="5676900" cy="5524500"/>
          </a:xfrm>
          <a:prstGeom prst="rect">
            <a:avLst/>
          </a:prstGeom>
        </p:spPr>
      </p:pic>
      <p:pic>
        <p:nvPicPr>
          <p:cNvPr id="20" name="Image 18" descr="preencoded.png"/>
          <p:cNvPicPr>
            <a:picLocks noChangeAspect="1"/>
          </p:cNvPicPr>
          <p:nvPr/>
        </p:nvPicPr>
        <p:blipFill>
          <a:blip r:embed="rId16"/>
          <a:stretch>
            <a:fillRect/>
          </a:stretch>
        </p:blipFill>
        <p:spPr>
          <a:xfrm>
            <a:off x="6438900" y="647700"/>
            <a:ext cx="228600" cy="228600"/>
          </a:xfrm>
          <a:prstGeom prst="rect">
            <a:avLst/>
          </a:prstGeom>
        </p:spPr>
      </p:pic>
      <p:pic>
        <p:nvPicPr>
          <p:cNvPr id="21" name="Image 19" descr="preencoded.png"/>
          <p:cNvPicPr>
            <a:picLocks noChangeAspect="1"/>
          </p:cNvPicPr>
          <p:nvPr/>
        </p:nvPicPr>
        <p:blipFill>
          <a:blip r:embed="rId17"/>
          <a:stretch>
            <a:fillRect/>
          </a:stretch>
        </p:blipFill>
        <p:spPr>
          <a:xfrm>
            <a:off x="7677150" y="1676400"/>
            <a:ext cx="762000" cy="762000"/>
          </a:xfrm>
          <a:prstGeom prst="rect">
            <a:avLst/>
          </a:prstGeom>
        </p:spPr>
      </p:pic>
      <p:pic>
        <p:nvPicPr>
          <p:cNvPr id="22" name="Image 20" descr="preencoded.png"/>
          <p:cNvPicPr>
            <a:picLocks noChangeAspect="1"/>
          </p:cNvPicPr>
          <p:nvPr/>
        </p:nvPicPr>
        <p:blipFill>
          <a:blip r:embed="rId18"/>
          <a:stretch>
            <a:fillRect/>
          </a:stretch>
        </p:blipFill>
        <p:spPr>
          <a:xfrm>
            <a:off x="8439150" y="2038350"/>
            <a:ext cx="1219200" cy="38100"/>
          </a:xfrm>
          <a:prstGeom prst="rect">
            <a:avLst/>
          </a:prstGeom>
        </p:spPr>
      </p:pic>
      <p:pic>
        <p:nvPicPr>
          <p:cNvPr id="23" name="Image 21" descr="preencoded.png"/>
          <p:cNvPicPr>
            <a:picLocks noChangeAspect="1"/>
          </p:cNvPicPr>
          <p:nvPr/>
        </p:nvPicPr>
        <p:blipFill>
          <a:blip r:embed="rId19"/>
          <a:stretch>
            <a:fillRect/>
          </a:stretch>
        </p:blipFill>
        <p:spPr>
          <a:xfrm>
            <a:off x="8958263" y="1905000"/>
            <a:ext cx="180975" cy="304800"/>
          </a:xfrm>
          <a:prstGeom prst="rect">
            <a:avLst/>
          </a:prstGeom>
        </p:spPr>
      </p:pic>
      <p:pic>
        <p:nvPicPr>
          <p:cNvPr id="24" name="Image 22" descr="preencoded.png"/>
          <p:cNvPicPr>
            <a:picLocks noChangeAspect="1"/>
          </p:cNvPicPr>
          <p:nvPr/>
        </p:nvPicPr>
        <p:blipFill>
          <a:blip r:embed="rId20"/>
          <a:stretch>
            <a:fillRect/>
          </a:stretch>
        </p:blipFill>
        <p:spPr>
          <a:xfrm>
            <a:off x="8996363" y="1990725"/>
            <a:ext cx="104775" cy="152400"/>
          </a:xfrm>
          <a:prstGeom prst="rect">
            <a:avLst/>
          </a:prstGeom>
        </p:spPr>
      </p:pic>
      <p:pic>
        <p:nvPicPr>
          <p:cNvPr id="25" name="Image 23" descr="preencoded.png"/>
          <p:cNvPicPr>
            <a:picLocks noChangeAspect="1"/>
          </p:cNvPicPr>
          <p:nvPr/>
        </p:nvPicPr>
        <p:blipFill>
          <a:blip r:embed="rId21"/>
          <a:stretch>
            <a:fillRect/>
          </a:stretch>
        </p:blipFill>
        <p:spPr>
          <a:xfrm>
            <a:off x="9658350" y="1676400"/>
            <a:ext cx="762000" cy="762000"/>
          </a:xfrm>
          <a:prstGeom prst="rect">
            <a:avLst/>
          </a:prstGeom>
        </p:spPr>
      </p:pic>
      <p:pic>
        <p:nvPicPr>
          <p:cNvPr id="26" name="Image 24" descr="preencoded.png"/>
          <p:cNvPicPr>
            <a:picLocks noChangeAspect="1"/>
          </p:cNvPicPr>
          <p:nvPr/>
        </p:nvPicPr>
        <p:blipFill>
          <a:blip r:embed="rId22"/>
          <a:stretch>
            <a:fillRect/>
          </a:stretch>
        </p:blipFill>
        <p:spPr>
          <a:xfrm>
            <a:off x="6981825" y="2667000"/>
            <a:ext cx="1524000" cy="1143000"/>
          </a:xfrm>
          <a:prstGeom prst="rect">
            <a:avLst/>
          </a:prstGeom>
        </p:spPr>
      </p:pic>
      <p:pic>
        <p:nvPicPr>
          <p:cNvPr id="27" name="Image 25" descr="preencoded.png"/>
          <p:cNvPicPr>
            <a:picLocks noChangeAspect="1"/>
          </p:cNvPicPr>
          <p:nvPr/>
        </p:nvPicPr>
        <p:blipFill>
          <a:blip r:embed="rId23"/>
          <a:stretch>
            <a:fillRect/>
          </a:stretch>
        </p:blipFill>
        <p:spPr>
          <a:xfrm>
            <a:off x="7629525" y="2781300"/>
            <a:ext cx="228600" cy="304800"/>
          </a:xfrm>
          <a:prstGeom prst="rect">
            <a:avLst/>
          </a:prstGeom>
        </p:spPr>
      </p:pic>
      <p:pic>
        <p:nvPicPr>
          <p:cNvPr id="28" name="Image 26" descr="preencoded.png"/>
          <p:cNvPicPr>
            <a:picLocks noChangeAspect="1"/>
          </p:cNvPicPr>
          <p:nvPr/>
        </p:nvPicPr>
        <p:blipFill>
          <a:blip r:embed="rId24"/>
          <a:stretch>
            <a:fillRect/>
          </a:stretch>
        </p:blipFill>
        <p:spPr>
          <a:xfrm>
            <a:off x="9591675" y="2667000"/>
            <a:ext cx="1524000" cy="1143000"/>
          </a:xfrm>
          <a:prstGeom prst="rect">
            <a:avLst/>
          </a:prstGeom>
        </p:spPr>
      </p:pic>
      <p:pic>
        <p:nvPicPr>
          <p:cNvPr id="29" name="Image 27" descr="preencoded.png"/>
          <p:cNvPicPr>
            <a:picLocks noChangeAspect="1"/>
          </p:cNvPicPr>
          <p:nvPr/>
        </p:nvPicPr>
        <p:blipFill>
          <a:blip r:embed="rId25"/>
          <a:stretch>
            <a:fillRect/>
          </a:stretch>
        </p:blipFill>
        <p:spPr>
          <a:xfrm>
            <a:off x="10253663" y="2781300"/>
            <a:ext cx="200025" cy="304800"/>
          </a:xfrm>
          <a:prstGeom prst="rect">
            <a:avLst/>
          </a:prstGeom>
        </p:spPr>
      </p:pic>
      <p:pic>
        <p:nvPicPr>
          <p:cNvPr id="30" name="Image 28" descr="preencoded.png"/>
          <p:cNvPicPr>
            <a:picLocks noChangeAspect="1"/>
          </p:cNvPicPr>
          <p:nvPr/>
        </p:nvPicPr>
        <p:blipFill>
          <a:blip r:embed="rId15"/>
          <a:stretch>
            <a:fillRect/>
          </a:stretch>
        </p:blipFill>
        <p:spPr>
          <a:xfrm>
            <a:off x="6515100" y="4495800"/>
            <a:ext cx="152400" cy="152400"/>
          </a:xfrm>
          <a:prstGeom prst="rect">
            <a:avLst/>
          </a:prstGeom>
        </p:spPr>
      </p:pic>
      <p:pic>
        <p:nvPicPr>
          <p:cNvPr id="31" name="Image 29" descr="preencoded.png"/>
          <p:cNvPicPr>
            <a:picLocks noChangeAspect="1"/>
          </p:cNvPicPr>
          <p:nvPr/>
        </p:nvPicPr>
        <p:blipFill>
          <a:blip r:embed="rId15"/>
          <a:stretch>
            <a:fillRect/>
          </a:stretch>
        </p:blipFill>
        <p:spPr>
          <a:xfrm>
            <a:off x="6515100" y="4953000"/>
            <a:ext cx="152400" cy="152400"/>
          </a:xfrm>
          <a:prstGeom prst="rect">
            <a:avLst/>
          </a:prstGeom>
        </p:spPr>
      </p:pic>
      <p:pic>
        <p:nvPicPr>
          <p:cNvPr id="32" name="Image 30" descr="preencoded.png"/>
          <p:cNvPicPr>
            <a:picLocks noChangeAspect="1"/>
          </p:cNvPicPr>
          <p:nvPr/>
        </p:nvPicPr>
        <p:blipFill>
          <a:blip r:embed="rId15"/>
          <a:stretch>
            <a:fillRect/>
          </a:stretch>
        </p:blipFill>
        <p:spPr>
          <a:xfrm>
            <a:off x="6515100" y="5410200"/>
            <a:ext cx="152400" cy="152400"/>
          </a:xfrm>
          <a:prstGeom prst="rect">
            <a:avLst/>
          </a:prstGeom>
        </p:spPr>
      </p:pic>
      <p:sp>
        <p:nvSpPr>
          <p:cNvPr id="33" name="Text 0"/>
          <p:cNvSpPr/>
          <p:nvPr/>
        </p:nvSpPr>
        <p:spPr>
          <a:xfrm>
            <a:off x="904875" y="609600"/>
            <a:ext cx="626364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Sidecar-Free Service Mesh</a:t>
            </a:r>
            <a:endParaRPr lang="en-US" sz="1800" dirty="0"/>
          </a:p>
        </p:txBody>
      </p:sp>
      <p:sp>
        <p:nvSpPr>
          <p:cNvPr id="34" name="Text 1"/>
          <p:cNvSpPr/>
          <p:nvPr/>
        </p:nvSpPr>
        <p:spPr>
          <a:xfrm>
            <a:off x="533400" y="1066800"/>
            <a:ext cx="52197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Cilium integrates service mesh features directly into the eBPF data path, eliminating the need for sidecar proxies.</a:t>
            </a:r>
            <a:endParaRPr lang="en-US" sz="1200" dirty="0"/>
          </a:p>
        </p:txBody>
      </p:sp>
      <p:sp>
        <p:nvSpPr>
          <p:cNvPr id="35" name="Text 2"/>
          <p:cNvSpPr/>
          <p:nvPr/>
        </p:nvSpPr>
        <p:spPr>
          <a:xfrm>
            <a:off x="525780" y="2667000"/>
            <a:ext cx="1920240" cy="152400"/>
          </a:xfrm>
          <a:prstGeom prst="rect">
            <a:avLst/>
          </a:prstGeom>
          <a:noFill/>
          <a:ln/>
        </p:spPr>
        <p:txBody>
          <a:bodyPr vert="horz" wrap="square" lIns="0" tIns="0" rIns="0" bIns="0" rtlCol="0" anchor="t"/>
          <a:lstStyle/>
          <a:p>
            <a:pPr marL="0" indent="0" algn="ctr">
              <a:lnSpc>
                <a:spcPts val="1200"/>
              </a:lnSpc>
              <a:buNone/>
            </a:pPr>
            <a:r>
              <a:rPr lang="en-US" sz="900" dirty="0">
                <a:solidFill>
                  <a:srgbClr val="6B7280"/>
                </a:solidFill>
                <a:latin typeface="ui-sans-serif" pitchFamily="34" charset="0"/>
                <a:ea typeface="ui-sans-serif" pitchFamily="34" charset="-122"/>
                <a:cs typeface="ui-sans-serif" pitchFamily="34" charset="-120"/>
              </a:rPr>
              <a:t>Traditional Sidecar</a:t>
            </a:r>
            <a:endParaRPr lang="en-US" sz="900" dirty="0"/>
          </a:p>
        </p:txBody>
      </p:sp>
      <p:sp>
        <p:nvSpPr>
          <p:cNvPr id="36" name="Text 3"/>
          <p:cNvSpPr/>
          <p:nvPr/>
        </p:nvSpPr>
        <p:spPr>
          <a:xfrm>
            <a:off x="3840480" y="2667000"/>
            <a:ext cx="1920240" cy="152400"/>
          </a:xfrm>
          <a:prstGeom prst="rect">
            <a:avLst/>
          </a:prstGeom>
          <a:noFill/>
          <a:ln/>
        </p:spPr>
        <p:txBody>
          <a:bodyPr vert="horz" wrap="square" lIns="0" tIns="0" rIns="0" bIns="0" rtlCol="0" anchor="t"/>
          <a:lstStyle/>
          <a:p>
            <a:pPr marL="0" indent="0" algn="ctr">
              <a:lnSpc>
                <a:spcPts val="1200"/>
              </a:lnSpc>
              <a:buNone/>
            </a:pPr>
            <a:r>
              <a:rPr lang="en-US" sz="900" dirty="0">
                <a:solidFill>
                  <a:srgbClr val="6B7280"/>
                </a:solidFill>
                <a:latin typeface="ui-sans-serif" pitchFamily="34" charset="0"/>
                <a:ea typeface="ui-sans-serif" pitchFamily="34" charset="-122"/>
                <a:cs typeface="ui-sans-serif" pitchFamily="34" charset="-120"/>
              </a:rPr>
              <a:t>Cilium Sidecar-Free</a:t>
            </a:r>
            <a:endParaRPr lang="en-US" sz="900" dirty="0"/>
          </a:p>
        </p:txBody>
      </p:sp>
      <p:sp>
        <p:nvSpPr>
          <p:cNvPr id="37" name="Text 4"/>
          <p:cNvSpPr/>
          <p:nvPr/>
        </p:nvSpPr>
        <p:spPr>
          <a:xfrm>
            <a:off x="533400" y="3048000"/>
            <a:ext cx="52197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Key Benefits:</a:t>
            </a:r>
            <a:endParaRPr lang="en-US" sz="1350" dirty="0"/>
          </a:p>
        </p:txBody>
      </p:sp>
      <p:sp>
        <p:nvSpPr>
          <p:cNvPr id="38" name="Text 5"/>
          <p:cNvSpPr/>
          <p:nvPr/>
        </p:nvSpPr>
        <p:spPr>
          <a:xfrm>
            <a:off x="838200" y="3467100"/>
            <a:ext cx="288393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Reduced resource consumption</a:t>
            </a:r>
            <a:endParaRPr lang="en-US" sz="1200" dirty="0"/>
          </a:p>
        </p:txBody>
      </p:sp>
      <p:sp>
        <p:nvSpPr>
          <p:cNvPr id="39" name="Text 6"/>
          <p:cNvSpPr/>
          <p:nvPr/>
        </p:nvSpPr>
        <p:spPr>
          <a:xfrm>
            <a:off x="838200" y="3924300"/>
            <a:ext cx="205865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Simplified deployment</a:t>
            </a:r>
            <a:endParaRPr lang="en-US" sz="1200" dirty="0"/>
          </a:p>
        </p:txBody>
      </p:sp>
      <p:sp>
        <p:nvSpPr>
          <p:cNvPr id="40" name="Text 7"/>
          <p:cNvSpPr/>
          <p:nvPr/>
        </p:nvSpPr>
        <p:spPr>
          <a:xfrm>
            <a:off x="838200" y="4381500"/>
            <a:ext cx="165877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Minimized latency</a:t>
            </a:r>
            <a:endParaRPr lang="en-US" sz="1200" dirty="0"/>
          </a:p>
        </p:txBody>
      </p:sp>
      <p:sp>
        <p:nvSpPr>
          <p:cNvPr id="41" name="Text 8"/>
          <p:cNvSpPr/>
          <p:nvPr/>
        </p:nvSpPr>
        <p:spPr>
          <a:xfrm>
            <a:off x="6781800" y="609600"/>
            <a:ext cx="626364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Transparent Encryption</a:t>
            </a:r>
            <a:endParaRPr lang="en-US" sz="1800" dirty="0"/>
          </a:p>
        </p:txBody>
      </p:sp>
      <p:sp>
        <p:nvSpPr>
          <p:cNvPr id="42" name="Text 9"/>
          <p:cNvSpPr/>
          <p:nvPr/>
        </p:nvSpPr>
        <p:spPr>
          <a:xfrm>
            <a:off x="6438900" y="1066800"/>
            <a:ext cx="52197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Cilium provides transparent encryption for data-in-transit between pods or nodes, automatically securing network communication.</a:t>
            </a:r>
            <a:endParaRPr lang="en-US" sz="1200" dirty="0"/>
          </a:p>
        </p:txBody>
      </p:sp>
      <p:sp>
        <p:nvSpPr>
          <p:cNvPr id="43" name="Text 10"/>
          <p:cNvSpPr/>
          <p:nvPr/>
        </p:nvSpPr>
        <p:spPr>
          <a:xfrm>
            <a:off x="6966585" y="3162300"/>
            <a:ext cx="1554480"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374151"/>
                </a:solidFill>
                <a:latin typeface="ui-sans-serif" pitchFamily="34" charset="0"/>
                <a:ea typeface="ui-sans-serif" pitchFamily="34" charset="-122"/>
                <a:cs typeface="ui-sans-serif" pitchFamily="34" charset="-120"/>
              </a:rPr>
              <a:t>WireGuard</a:t>
            </a:r>
            <a:endParaRPr lang="en-US" sz="1200" dirty="0"/>
          </a:p>
        </p:txBody>
      </p:sp>
      <p:sp>
        <p:nvSpPr>
          <p:cNvPr id="44" name="Text 11"/>
          <p:cNvSpPr/>
          <p:nvPr/>
        </p:nvSpPr>
        <p:spPr>
          <a:xfrm>
            <a:off x="7096125" y="3390900"/>
            <a:ext cx="1295400" cy="304800"/>
          </a:xfrm>
          <a:prstGeom prst="rect">
            <a:avLst/>
          </a:prstGeom>
          <a:noFill/>
          <a:ln/>
        </p:spPr>
        <p:txBody>
          <a:bodyPr vert="horz" wrap="square" lIns="0" tIns="0" rIns="0" bIns="0" rtlCol="0" anchor="t"/>
          <a:lstStyle/>
          <a:p>
            <a:pPr marL="0" indent="0" algn="ctr">
              <a:lnSpc>
                <a:spcPts val="1200"/>
              </a:lnSpc>
              <a:buNone/>
            </a:pPr>
            <a:r>
              <a:rPr lang="en-US" sz="900" dirty="0">
                <a:solidFill>
                  <a:srgbClr val="6B7280"/>
                </a:solidFill>
                <a:latin typeface="ui-sans-serif" pitchFamily="34" charset="0"/>
                <a:ea typeface="ui-sans-serif" pitchFamily="34" charset="-122"/>
                <a:cs typeface="ui-sans-serif" pitchFamily="34" charset="-120"/>
              </a:rPr>
              <a:t>Modern, efficient encryption</a:t>
            </a:r>
            <a:endParaRPr lang="en-US" sz="900" dirty="0"/>
          </a:p>
        </p:txBody>
      </p:sp>
      <p:sp>
        <p:nvSpPr>
          <p:cNvPr id="45" name="Text 12"/>
          <p:cNvSpPr/>
          <p:nvPr/>
        </p:nvSpPr>
        <p:spPr>
          <a:xfrm>
            <a:off x="9705975" y="3162300"/>
            <a:ext cx="1295400" cy="228600"/>
          </a:xfrm>
          <a:prstGeom prst="rect">
            <a:avLst/>
          </a:prstGeom>
          <a:noFill/>
          <a:ln/>
        </p:spPr>
        <p:txBody>
          <a:bodyPr vert="horz" wrap="square" lIns="0" tIns="0" rIns="0" bIns="0" rtlCol="0" anchor="t"/>
          <a:lstStyle/>
          <a:p>
            <a:pPr marL="0" indent="0" algn="ctr">
              <a:lnSpc>
                <a:spcPts val="1800"/>
              </a:lnSpc>
              <a:buNone/>
            </a:pPr>
            <a:r>
              <a:rPr lang="en-US" sz="1200" b="1" dirty="0">
                <a:solidFill>
                  <a:srgbClr val="374151"/>
                </a:solidFill>
                <a:latin typeface="ui-sans-serif" pitchFamily="34" charset="0"/>
                <a:ea typeface="ui-sans-serif" pitchFamily="34" charset="-122"/>
                <a:cs typeface="ui-sans-serif" pitchFamily="34" charset="-120"/>
              </a:rPr>
              <a:t>IPsec</a:t>
            </a:r>
            <a:endParaRPr lang="en-US" sz="1200" dirty="0"/>
          </a:p>
        </p:txBody>
      </p:sp>
      <p:sp>
        <p:nvSpPr>
          <p:cNvPr id="46" name="Text 13"/>
          <p:cNvSpPr/>
          <p:nvPr/>
        </p:nvSpPr>
        <p:spPr>
          <a:xfrm>
            <a:off x="9705975" y="3390900"/>
            <a:ext cx="1295400" cy="304800"/>
          </a:xfrm>
          <a:prstGeom prst="rect">
            <a:avLst/>
          </a:prstGeom>
          <a:noFill/>
          <a:ln/>
        </p:spPr>
        <p:txBody>
          <a:bodyPr vert="horz" wrap="square" lIns="0" tIns="0" rIns="0" bIns="0" rtlCol="0" anchor="t"/>
          <a:lstStyle/>
          <a:p>
            <a:pPr marL="0" indent="0" algn="ctr">
              <a:lnSpc>
                <a:spcPts val="1200"/>
              </a:lnSpc>
              <a:buNone/>
            </a:pPr>
            <a:r>
              <a:rPr lang="en-US" sz="900" dirty="0">
                <a:solidFill>
                  <a:srgbClr val="6B7280"/>
                </a:solidFill>
                <a:latin typeface="ui-sans-serif" pitchFamily="34" charset="0"/>
                <a:ea typeface="ui-sans-serif" pitchFamily="34" charset="-122"/>
                <a:cs typeface="ui-sans-serif" pitchFamily="34" charset="-120"/>
              </a:rPr>
              <a:t>Industry-standard security</a:t>
            </a:r>
            <a:endParaRPr lang="en-US" sz="900" dirty="0"/>
          </a:p>
        </p:txBody>
      </p:sp>
      <p:sp>
        <p:nvSpPr>
          <p:cNvPr id="47" name="Text 14"/>
          <p:cNvSpPr/>
          <p:nvPr/>
        </p:nvSpPr>
        <p:spPr>
          <a:xfrm>
            <a:off x="6438900" y="4038600"/>
            <a:ext cx="52197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374151"/>
                </a:solidFill>
                <a:latin typeface="ui-sans-serif" pitchFamily="34" charset="0"/>
                <a:ea typeface="ui-sans-serif" pitchFamily="34" charset="-122"/>
                <a:cs typeface="ui-sans-serif" pitchFamily="34" charset="-120"/>
              </a:rPr>
              <a:t>Key Benefits:</a:t>
            </a:r>
            <a:endParaRPr lang="en-US" sz="1350" dirty="0"/>
          </a:p>
        </p:txBody>
      </p:sp>
      <p:sp>
        <p:nvSpPr>
          <p:cNvPr id="48" name="Text 15"/>
          <p:cNvSpPr/>
          <p:nvPr/>
        </p:nvSpPr>
        <p:spPr>
          <a:xfrm>
            <a:off x="6743700" y="4457700"/>
            <a:ext cx="461379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Automatic encryption without application changes</a:t>
            </a:r>
            <a:endParaRPr lang="en-US" sz="1200" dirty="0"/>
          </a:p>
        </p:txBody>
      </p:sp>
      <p:sp>
        <p:nvSpPr>
          <p:cNvPr id="49" name="Text 16"/>
          <p:cNvSpPr/>
          <p:nvPr/>
        </p:nvSpPr>
        <p:spPr>
          <a:xfrm>
            <a:off x="6743700" y="4914900"/>
            <a:ext cx="307020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Protection against eavesdropping</a:t>
            </a:r>
            <a:endParaRPr lang="en-US" sz="1200" dirty="0"/>
          </a:p>
        </p:txBody>
      </p:sp>
      <p:sp>
        <p:nvSpPr>
          <p:cNvPr id="50" name="Text 17"/>
          <p:cNvSpPr/>
          <p:nvPr/>
        </p:nvSpPr>
        <p:spPr>
          <a:xfrm>
            <a:off x="6743700" y="5372100"/>
            <a:ext cx="331862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Tamper protection for sensitive data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96100"/>
          </a:xfrm>
          <a:prstGeom prst="rect">
            <a:avLst/>
          </a:prstGeom>
        </p:spPr>
      </p:pic>
      <p:pic>
        <p:nvPicPr>
          <p:cNvPr id="4" name="Image 2" descr="preencoded.png"/>
          <p:cNvPicPr>
            <a:picLocks noChangeAspect="1"/>
          </p:cNvPicPr>
          <p:nvPr/>
        </p:nvPicPr>
        <p:blipFill>
          <a:blip r:embed="rId4"/>
          <a:stretch>
            <a:fillRect/>
          </a:stretch>
        </p:blipFill>
        <p:spPr>
          <a:xfrm>
            <a:off x="381000" y="457200"/>
            <a:ext cx="11430000" cy="1143000"/>
          </a:xfrm>
          <a:prstGeom prst="rect">
            <a:avLst/>
          </a:prstGeom>
        </p:spPr>
      </p:pic>
      <p:pic>
        <p:nvPicPr>
          <p:cNvPr id="5" name="Image 3" descr="preencoded.png"/>
          <p:cNvPicPr>
            <a:picLocks noChangeAspect="1"/>
          </p:cNvPicPr>
          <p:nvPr/>
        </p:nvPicPr>
        <p:blipFill>
          <a:blip r:embed="rId5"/>
          <a:stretch>
            <a:fillRect/>
          </a:stretch>
        </p:blipFill>
        <p:spPr>
          <a:xfrm>
            <a:off x="533400" y="647700"/>
            <a:ext cx="257175" cy="228600"/>
          </a:xfrm>
          <a:prstGeom prst="rect">
            <a:avLst/>
          </a:prstGeom>
        </p:spPr>
      </p:pic>
      <p:pic>
        <p:nvPicPr>
          <p:cNvPr id="6" name="Image 4" descr="preencoded.png"/>
          <p:cNvPicPr>
            <a:picLocks noChangeAspect="1"/>
          </p:cNvPicPr>
          <p:nvPr/>
        </p:nvPicPr>
        <p:blipFill>
          <a:blip r:embed="rId6"/>
          <a:stretch>
            <a:fillRect/>
          </a:stretch>
        </p:blipFill>
        <p:spPr>
          <a:xfrm>
            <a:off x="381000" y="1828800"/>
            <a:ext cx="5600700" cy="3810000"/>
          </a:xfrm>
          <a:prstGeom prst="rect">
            <a:avLst/>
          </a:prstGeom>
        </p:spPr>
      </p:pic>
      <p:pic>
        <p:nvPicPr>
          <p:cNvPr id="7" name="Image 5" descr="preencoded.png"/>
          <p:cNvPicPr>
            <a:picLocks noChangeAspect="1"/>
          </p:cNvPicPr>
          <p:nvPr/>
        </p:nvPicPr>
        <p:blipFill>
          <a:blip r:embed="rId7"/>
          <a:stretch>
            <a:fillRect/>
          </a:stretch>
        </p:blipFill>
        <p:spPr>
          <a:xfrm>
            <a:off x="571500" y="2057400"/>
            <a:ext cx="219075" cy="190500"/>
          </a:xfrm>
          <a:prstGeom prst="rect">
            <a:avLst/>
          </a:prstGeom>
        </p:spPr>
      </p:pic>
      <p:pic>
        <p:nvPicPr>
          <p:cNvPr id="8" name="Image 6" descr="preencoded.png"/>
          <p:cNvPicPr>
            <a:picLocks noChangeAspect="1"/>
          </p:cNvPicPr>
          <p:nvPr/>
        </p:nvPicPr>
        <p:blipFill>
          <a:blip r:embed="rId8"/>
          <a:stretch>
            <a:fillRect/>
          </a:stretch>
        </p:blipFill>
        <p:spPr>
          <a:xfrm>
            <a:off x="571500" y="3924300"/>
            <a:ext cx="5219700" cy="1524000"/>
          </a:xfrm>
          <a:prstGeom prst="rect">
            <a:avLst/>
          </a:prstGeom>
        </p:spPr>
      </p:pic>
      <p:pic>
        <p:nvPicPr>
          <p:cNvPr id="9" name="Image 7" descr="preencoded.png"/>
          <p:cNvPicPr>
            <a:picLocks noChangeAspect="1"/>
          </p:cNvPicPr>
          <p:nvPr/>
        </p:nvPicPr>
        <p:blipFill>
          <a:blip r:embed="rId9"/>
          <a:stretch>
            <a:fillRect/>
          </a:stretch>
        </p:blipFill>
        <p:spPr>
          <a:xfrm>
            <a:off x="647700" y="4000500"/>
            <a:ext cx="5067300" cy="1466255"/>
          </a:xfrm>
          <a:prstGeom prst="rect">
            <a:avLst/>
          </a:prstGeom>
        </p:spPr>
      </p:pic>
      <p:pic>
        <p:nvPicPr>
          <p:cNvPr id="10" name="Image 8" descr="preencoded.png"/>
          <p:cNvPicPr>
            <a:picLocks noChangeAspect="1"/>
          </p:cNvPicPr>
          <p:nvPr/>
        </p:nvPicPr>
        <p:blipFill>
          <a:blip r:embed="rId6"/>
          <a:stretch>
            <a:fillRect/>
          </a:stretch>
        </p:blipFill>
        <p:spPr>
          <a:xfrm>
            <a:off x="6210300" y="1828800"/>
            <a:ext cx="5600700" cy="3810000"/>
          </a:xfrm>
          <a:prstGeom prst="rect">
            <a:avLst/>
          </a:prstGeom>
        </p:spPr>
      </p:pic>
      <p:pic>
        <p:nvPicPr>
          <p:cNvPr id="11" name="Image 9" descr="preencoded.png"/>
          <p:cNvPicPr>
            <a:picLocks noChangeAspect="1"/>
          </p:cNvPicPr>
          <p:nvPr/>
        </p:nvPicPr>
        <p:blipFill>
          <a:blip r:embed="rId10"/>
          <a:stretch>
            <a:fillRect/>
          </a:stretch>
        </p:blipFill>
        <p:spPr>
          <a:xfrm>
            <a:off x="6400800" y="2057400"/>
            <a:ext cx="190500" cy="190500"/>
          </a:xfrm>
          <a:prstGeom prst="rect">
            <a:avLst/>
          </a:prstGeom>
        </p:spPr>
      </p:pic>
      <p:pic>
        <p:nvPicPr>
          <p:cNvPr id="12" name="Image 10" descr="preencoded.png"/>
          <p:cNvPicPr>
            <a:picLocks noChangeAspect="1"/>
          </p:cNvPicPr>
          <p:nvPr/>
        </p:nvPicPr>
        <p:blipFill>
          <a:blip r:embed="rId11"/>
          <a:stretch>
            <a:fillRect/>
          </a:stretch>
        </p:blipFill>
        <p:spPr>
          <a:xfrm>
            <a:off x="6400800" y="2971800"/>
            <a:ext cx="2552700" cy="914400"/>
          </a:xfrm>
          <a:prstGeom prst="rect">
            <a:avLst/>
          </a:prstGeom>
        </p:spPr>
      </p:pic>
      <p:pic>
        <p:nvPicPr>
          <p:cNvPr id="13" name="Image 11" descr="preencoded.png"/>
          <p:cNvPicPr>
            <a:picLocks noChangeAspect="1"/>
          </p:cNvPicPr>
          <p:nvPr/>
        </p:nvPicPr>
        <p:blipFill>
          <a:blip r:embed="rId12"/>
          <a:stretch>
            <a:fillRect/>
          </a:stretch>
        </p:blipFill>
        <p:spPr>
          <a:xfrm>
            <a:off x="6515100" y="3086100"/>
            <a:ext cx="238125" cy="266700"/>
          </a:xfrm>
          <a:prstGeom prst="rect">
            <a:avLst/>
          </a:prstGeom>
        </p:spPr>
      </p:pic>
      <p:pic>
        <p:nvPicPr>
          <p:cNvPr id="14" name="Image 12" descr="preencoded.png"/>
          <p:cNvPicPr>
            <a:picLocks noChangeAspect="1"/>
          </p:cNvPicPr>
          <p:nvPr/>
        </p:nvPicPr>
        <p:blipFill>
          <a:blip r:embed="rId13"/>
          <a:stretch>
            <a:fillRect/>
          </a:stretch>
        </p:blipFill>
        <p:spPr>
          <a:xfrm>
            <a:off x="9067800" y="2971800"/>
            <a:ext cx="2552700" cy="914400"/>
          </a:xfrm>
          <a:prstGeom prst="rect">
            <a:avLst/>
          </a:prstGeom>
        </p:spPr>
      </p:pic>
      <p:pic>
        <p:nvPicPr>
          <p:cNvPr id="15" name="Image 13" descr="preencoded.png"/>
          <p:cNvPicPr>
            <a:picLocks noChangeAspect="1"/>
          </p:cNvPicPr>
          <p:nvPr/>
        </p:nvPicPr>
        <p:blipFill>
          <a:blip r:embed="rId14"/>
          <a:stretch>
            <a:fillRect/>
          </a:stretch>
        </p:blipFill>
        <p:spPr>
          <a:xfrm>
            <a:off x="9182100" y="3086100"/>
            <a:ext cx="190500" cy="266700"/>
          </a:xfrm>
          <a:prstGeom prst="rect">
            <a:avLst/>
          </a:prstGeom>
        </p:spPr>
      </p:pic>
      <p:pic>
        <p:nvPicPr>
          <p:cNvPr id="16" name="Image 14" descr="preencoded.png"/>
          <p:cNvPicPr>
            <a:picLocks noChangeAspect="1"/>
          </p:cNvPicPr>
          <p:nvPr/>
        </p:nvPicPr>
        <p:blipFill>
          <a:blip r:embed="rId15"/>
          <a:stretch>
            <a:fillRect/>
          </a:stretch>
        </p:blipFill>
        <p:spPr>
          <a:xfrm>
            <a:off x="6400800" y="4000500"/>
            <a:ext cx="2552700" cy="723900"/>
          </a:xfrm>
          <a:prstGeom prst="rect">
            <a:avLst/>
          </a:prstGeom>
        </p:spPr>
      </p:pic>
      <p:pic>
        <p:nvPicPr>
          <p:cNvPr id="17" name="Image 15" descr="preencoded.png"/>
          <p:cNvPicPr>
            <a:picLocks noChangeAspect="1"/>
          </p:cNvPicPr>
          <p:nvPr/>
        </p:nvPicPr>
        <p:blipFill>
          <a:blip r:embed="rId16"/>
          <a:stretch>
            <a:fillRect/>
          </a:stretch>
        </p:blipFill>
        <p:spPr>
          <a:xfrm>
            <a:off x="6515100" y="4114800"/>
            <a:ext cx="190500" cy="266700"/>
          </a:xfrm>
          <a:prstGeom prst="rect">
            <a:avLst/>
          </a:prstGeom>
        </p:spPr>
      </p:pic>
      <p:pic>
        <p:nvPicPr>
          <p:cNvPr id="18" name="Image 16" descr="preencoded.png"/>
          <p:cNvPicPr>
            <a:picLocks noChangeAspect="1"/>
          </p:cNvPicPr>
          <p:nvPr/>
        </p:nvPicPr>
        <p:blipFill>
          <a:blip r:embed="rId17"/>
          <a:stretch>
            <a:fillRect/>
          </a:stretch>
        </p:blipFill>
        <p:spPr>
          <a:xfrm>
            <a:off x="9067800" y="4000500"/>
            <a:ext cx="2552700" cy="723900"/>
          </a:xfrm>
          <a:prstGeom prst="rect">
            <a:avLst/>
          </a:prstGeom>
        </p:spPr>
      </p:pic>
      <p:pic>
        <p:nvPicPr>
          <p:cNvPr id="19" name="Image 17" descr="preencoded.png"/>
          <p:cNvPicPr>
            <a:picLocks noChangeAspect="1"/>
          </p:cNvPicPr>
          <p:nvPr/>
        </p:nvPicPr>
        <p:blipFill>
          <a:blip r:embed="rId18"/>
          <a:stretch>
            <a:fillRect/>
          </a:stretch>
        </p:blipFill>
        <p:spPr>
          <a:xfrm>
            <a:off x="9182100" y="4114800"/>
            <a:ext cx="190500" cy="266700"/>
          </a:xfrm>
          <a:prstGeom prst="rect">
            <a:avLst/>
          </a:prstGeom>
        </p:spPr>
      </p:pic>
      <p:sp>
        <p:nvSpPr>
          <p:cNvPr id="22" name="Text 0"/>
          <p:cNvSpPr/>
          <p:nvPr/>
        </p:nvSpPr>
        <p:spPr>
          <a:xfrm>
            <a:off x="904875" y="609600"/>
            <a:ext cx="111252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Introducing Hubble</a:t>
            </a:r>
            <a:endParaRPr lang="en-US" sz="1800" dirty="0"/>
          </a:p>
        </p:txBody>
      </p:sp>
      <p:sp>
        <p:nvSpPr>
          <p:cNvPr id="23" name="Text 1"/>
          <p:cNvSpPr/>
          <p:nvPr/>
        </p:nvSpPr>
        <p:spPr>
          <a:xfrm>
            <a:off x="533400" y="990600"/>
            <a:ext cx="111252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Hubble is Cilium's dedicated observability component, providing deep insights into network traffic and security policies within Kubernetes clusters. It transforms complex network data into actionable intelligence for developers and operations teams.</a:t>
            </a:r>
            <a:endParaRPr lang="en-US" sz="1200" dirty="0"/>
          </a:p>
        </p:txBody>
      </p:sp>
      <p:sp>
        <p:nvSpPr>
          <p:cNvPr id="24" name="Text 2"/>
          <p:cNvSpPr/>
          <p:nvPr/>
        </p:nvSpPr>
        <p:spPr>
          <a:xfrm>
            <a:off x="866775" y="2019300"/>
            <a:ext cx="626364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Service Dependency Maps</a:t>
            </a:r>
            <a:endParaRPr lang="en-US" sz="1500" dirty="0"/>
          </a:p>
        </p:txBody>
      </p:sp>
      <p:sp>
        <p:nvSpPr>
          <p:cNvPr id="25" name="Text 3"/>
          <p:cNvSpPr/>
          <p:nvPr/>
        </p:nvSpPr>
        <p:spPr>
          <a:xfrm>
            <a:off x="571500" y="2400300"/>
            <a:ext cx="52197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Automatically generates dynamic visual maps of service interactions</a:t>
            </a:r>
            <a:endParaRPr lang="en-US" sz="1200" dirty="0"/>
          </a:p>
        </p:txBody>
      </p:sp>
      <p:sp>
        <p:nvSpPr>
          <p:cNvPr id="26" name="Text 4"/>
          <p:cNvSpPr/>
          <p:nvPr/>
        </p:nvSpPr>
        <p:spPr>
          <a:xfrm>
            <a:off x="571500" y="2933700"/>
            <a:ext cx="62636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Provides real-time insights into communication patterns</a:t>
            </a:r>
            <a:endParaRPr lang="en-US" sz="1200" dirty="0"/>
          </a:p>
        </p:txBody>
      </p:sp>
      <p:sp>
        <p:nvSpPr>
          <p:cNvPr id="27" name="Text 5"/>
          <p:cNvSpPr/>
          <p:nvPr/>
        </p:nvSpPr>
        <p:spPr>
          <a:xfrm>
            <a:off x="571500" y="3238500"/>
            <a:ext cx="62636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Helps identify bottlenecks in service-to-service communication</a:t>
            </a:r>
            <a:endParaRPr lang="en-US" sz="1200" dirty="0"/>
          </a:p>
        </p:txBody>
      </p:sp>
      <p:sp>
        <p:nvSpPr>
          <p:cNvPr id="28" name="Text 6"/>
          <p:cNvSpPr/>
          <p:nvPr/>
        </p:nvSpPr>
        <p:spPr>
          <a:xfrm>
            <a:off x="571500" y="3543300"/>
            <a:ext cx="626364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374151"/>
                </a:solidFill>
                <a:latin typeface="ui-sans-serif" pitchFamily="34" charset="0"/>
                <a:ea typeface="ui-sans-serif" pitchFamily="34" charset="-122"/>
                <a:cs typeface="ui-sans-serif" pitchFamily="34" charset="-120"/>
              </a:rPr>
              <a:t>Visualizes policy violations and network issues</a:t>
            </a:r>
            <a:endParaRPr lang="en-US" sz="1200" dirty="0"/>
          </a:p>
        </p:txBody>
      </p:sp>
      <p:sp>
        <p:nvSpPr>
          <p:cNvPr id="29" name="Text 7"/>
          <p:cNvSpPr/>
          <p:nvPr/>
        </p:nvSpPr>
        <p:spPr>
          <a:xfrm>
            <a:off x="6667500" y="2019300"/>
            <a:ext cx="52197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Monitoring &amp; Alerting</a:t>
            </a:r>
            <a:endParaRPr lang="en-US" sz="1500" dirty="0"/>
          </a:p>
        </p:txBody>
      </p:sp>
      <p:sp>
        <p:nvSpPr>
          <p:cNvPr id="30" name="Text 8"/>
          <p:cNvSpPr/>
          <p:nvPr/>
        </p:nvSpPr>
        <p:spPr>
          <a:xfrm>
            <a:off x="6400800" y="2400300"/>
            <a:ext cx="52197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Hubble exposes rich metrics for integration with monitoring systems like Prometheus:</a:t>
            </a:r>
            <a:endParaRPr lang="en-US" sz="1200" dirty="0"/>
          </a:p>
        </p:txBody>
      </p:sp>
      <p:sp>
        <p:nvSpPr>
          <p:cNvPr id="31" name="Text 9"/>
          <p:cNvSpPr/>
          <p:nvPr/>
        </p:nvSpPr>
        <p:spPr>
          <a:xfrm>
            <a:off x="6829425" y="3105150"/>
            <a:ext cx="1334452"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Network Flows</a:t>
            </a:r>
            <a:endParaRPr lang="en-US" sz="1200" dirty="0"/>
          </a:p>
        </p:txBody>
      </p:sp>
      <p:sp>
        <p:nvSpPr>
          <p:cNvPr id="32" name="Text 10"/>
          <p:cNvSpPr/>
          <p:nvPr/>
        </p:nvSpPr>
        <p:spPr>
          <a:xfrm>
            <a:off x="6515100" y="3390900"/>
            <a:ext cx="23241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Volume and characteristics of traffic</a:t>
            </a:r>
            <a:endParaRPr lang="en-US" sz="1050" dirty="0"/>
          </a:p>
        </p:txBody>
      </p:sp>
      <p:sp>
        <p:nvSpPr>
          <p:cNvPr id="33" name="Text 11"/>
          <p:cNvSpPr/>
          <p:nvPr/>
        </p:nvSpPr>
        <p:spPr>
          <a:xfrm>
            <a:off x="9448800" y="3105150"/>
            <a:ext cx="1119426"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Policy Drops</a:t>
            </a:r>
            <a:endParaRPr lang="en-US" sz="1200" dirty="0"/>
          </a:p>
        </p:txBody>
      </p:sp>
      <p:sp>
        <p:nvSpPr>
          <p:cNvPr id="34" name="Text 12"/>
          <p:cNvSpPr/>
          <p:nvPr/>
        </p:nvSpPr>
        <p:spPr>
          <a:xfrm>
            <a:off x="9182100" y="3390900"/>
            <a:ext cx="278892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Identifies blocked traffic instances</a:t>
            </a:r>
            <a:endParaRPr lang="en-US" sz="1050" dirty="0"/>
          </a:p>
        </p:txBody>
      </p:sp>
      <p:sp>
        <p:nvSpPr>
          <p:cNvPr id="35" name="Text 13"/>
          <p:cNvSpPr/>
          <p:nvPr/>
        </p:nvSpPr>
        <p:spPr>
          <a:xfrm>
            <a:off x="6781800" y="4133850"/>
            <a:ext cx="1841837"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HTTP Request Rates</a:t>
            </a:r>
            <a:endParaRPr lang="en-US" sz="1200" dirty="0"/>
          </a:p>
        </p:txBody>
      </p:sp>
      <p:sp>
        <p:nvSpPr>
          <p:cNvPr id="36" name="Text 14"/>
          <p:cNvSpPr/>
          <p:nvPr/>
        </p:nvSpPr>
        <p:spPr>
          <a:xfrm>
            <a:off x="6515100" y="4419600"/>
            <a:ext cx="278892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Performance and usage insights</a:t>
            </a:r>
            <a:endParaRPr lang="en-US" sz="1050" dirty="0"/>
          </a:p>
        </p:txBody>
      </p:sp>
      <p:sp>
        <p:nvSpPr>
          <p:cNvPr id="37" name="Text 15"/>
          <p:cNvSpPr/>
          <p:nvPr/>
        </p:nvSpPr>
        <p:spPr>
          <a:xfrm>
            <a:off x="9448800" y="4133850"/>
            <a:ext cx="1158002"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DNS Queries</a:t>
            </a:r>
            <a:endParaRPr lang="en-US" sz="1200" dirty="0"/>
          </a:p>
        </p:txBody>
      </p:sp>
      <p:sp>
        <p:nvSpPr>
          <p:cNvPr id="38" name="Text 16"/>
          <p:cNvSpPr/>
          <p:nvPr/>
        </p:nvSpPr>
        <p:spPr>
          <a:xfrm>
            <a:off x="9182100" y="4419600"/>
            <a:ext cx="278892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Service discovery issue diagnosis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4"/>
          <a:stretch>
            <a:fillRect/>
          </a:stretch>
        </p:blipFill>
        <p:spPr>
          <a:xfrm>
            <a:off x="381000" y="1143000"/>
            <a:ext cx="3657600" cy="2362200"/>
          </a:xfrm>
          <a:prstGeom prst="rect">
            <a:avLst/>
          </a:prstGeom>
        </p:spPr>
      </p:pic>
      <p:pic>
        <p:nvPicPr>
          <p:cNvPr id="5" name="Image 3" descr="preencoded.png"/>
          <p:cNvPicPr>
            <a:picLocks noChangeAspect="1"/>
          </p:cNvPicPr>
          <p:nvPr/>
        </p:nvPicPr>
        <p:blipFill>
          <a:blip r:embed="rId5"/>
          <a:stretch>
            <a:fillRect/>
          </a:stretch>
        </p:blipFill>
        <p:spPr>
          <a:xfrm>
            <a:off x="1924050" y="1333500"/>
            <a:ext cx="571500" cy="571500"/>
          </a:xfrm>
          <a:prstGeom prst="rect">
            <a:avLst/>
          </a:prstGeom>
        </p:spPr>
      </p:pic>
      <p:pic>
        <p:nvPicPr>
          <p:cNvPr id="6" name="Image 4" descr="preencoded.png"/>
          <p:cNvPicPr>
            <a:picLocks noChangeAspect="1"/>
          </p:cNvPicPr>
          <p:nvPr/>
        </p:nvPicPr>
        <p:blipFill>
          <a:blip r:embed="rId6"/>
          <a:stretch>
            <a:fillRect/>
          </a:stretch>
        </p:blipFill>
        <p:spPr>
          <a:xfrm>
            <a:off x="2047875" y="1447800"/>
            <a:ext cx="323850" cy="342900"/>
          </a:xfrm>
          <a:prstGeom prst="rect">
            <a:avLst/>
          </a:prstGeom>
        </p:spPr>
      </p:pic>
      <p:pic>
        <p:nvPicPr>
          <p:cNvPr id="7" name="Image 5" descr="preencoded.png"/>
          <p:cNvPicPr>
            <a:picLocks noChangeAspect="1"/>
          </p:cNvPicPr>
          <p:nvPr/>
        </p:nvPicPr>
        <p:blipFill>
          <a:blip r:embed="rId4"/>
          <a:stretch>
            <a:fillRect/>
          </a:stretch>
        </p:blipFill>
        <p:spPr>
          <a:xfrm>
            <a:off x="4267200" y="1143000"/>
            <a:ext cx="3657600" cy="2362200"/>
          </a:xfrm>
          <a:prstGeom prst="rect">
            <a:avLst/>
          </a:prstGeom>
        </p:spPr>
      </p:pic>
      <p:pic>
        <p:nvPicPr>
          <p:cNvPr id="8" name="Image 6" descr="preencoded.png"/>
          <p:cNvPicPr>
            <a:picLocks noChangeAspect="1"/>
          </p:cNvPicPr>
          <p:nvPr/>
        </p:nvPicPr>
        <p:blipFill>
          <a:blip r:embed="rId7"/>
          <a:stretch>
            <a:fillRect/>
          </a:stretch>
        </p:blipFill>
        <p:spPr>
          <a:xfrm>
            <a:off x="5810250" y="1333500"/>
            <a:ext cx="571500" cy="571500"/>
          </a:xfrm>
          <a:prstGeom prst="rect">
            <a:avLst/>
          </a:prstGeom>
        </p:spPr>
      </p:pic>
      <p:pic>
        <p:nvPicPr>
          <p:cNvPr id="9" name="Image 7" descr="preencoded.png"/>
          <p:cNvPicPr>
            <a:picLocks noChangeAspect="1"/>
          </p:cNvPicPr>
          <p:nvPr/>
        </p:nvPicPr>
        <p:blipFill>
          <a:blip r:embed="rId8"/>
          <a:stretch>
            <a:fillRect/>
          </a:stretch>
        </p:blipFill>
        <p:spPr>
          <a:xfrm>
            <a:off x="5953125" y="1447800"/>
            <a:ext cx="285750" cy="342900"/>
          </a:xfrm>
          <a:prstGeom prst="rect">
            <a:avLst/>
          </a:prstGeom>
        </p:spPr>
      </p:pic>
      <p:pic>
        <p:nvPicPr>
          <p:cNvPr id="10" name="Image 8" descr="preencoded.png"/>
          <p:cNvPicPr>
            <a:picLocks noChangeAspect="1"/>
          </p:cNvPicPr>
          <p:nvPr/>
        </p:nvPicPr>
        <p:blipFill>
          <a:blip r:embed="rId4"/>
          <a:stretch>
            <a:fillRect/>
          </a:stretch>
        </p:blipFill>
        <p:spPr>
          <a:xfrm>
            <a:off x="8153400" y="1143000"/>
            <a:ext cx="3657600" cy="2362200"/>
          </a:xfrm>
          <a:prstGeom prst="rect">
            <a:avLst/>
          </a:prstGeom>
        </p:spPr>
      </p:pic>
      <p:pic>
        <p:nvPicPr>
          <p:cNvPr id="11" name="Image 9" descr="preencoded.png"/>
          <p:cNvPicPr>
            <a:picLocks noChangeAspect="1"/>
          </p:cNvPicPr>
          <p:nvPr/>
        </p:nvPicPr>
        <p:blipFill>
          <a:blip r:embed="rId9"/>
          <a:stretch>
            <a:fillRect/>
          </a:stretch>
        </p:blipFill>
        <p:spPr>
          <a:xfrm>
            <a:off x="9696450" y="1333500"/>
            <a:ext cx="571500" cy="571500"/>
          </a:xfrm>
          <a:prstGeom prst="rect">
            <a:avLst/>
          </a:prstGeom>
        </p:spPr>
      </p:pic>
      <p:pic>
        <p:nvPicPr>
          <p:cNvPr id="12" name="Image 10" descr="preencoded.png"/>
          <p:cNvPicPr>
            <a:picLocks noChangeAspect="1"/>
          </p:cNvPicPr>
          <p:nvPr/>
        </p:nvPicPr>
        <p:blipFill>
          <a:blip r:embed="rId10"/>
          <a:stretch>
            <a:fillRect/>
          </a:stretch>
        </p:blipFill>
        <p:spPr>
          <a:xfrm>
            <a:off x="9839325" y="1447800"/>
            <a:ext cx="285750" cy="342900"/>
          </a:xfrm>
          <a:prstGeom prst="rect">
            <a:avLst/>
          </a:prstGeom>
        </p:spPr>
      </p:pic>
      <p:pic>
        <p:nvPicPr>
          <p:cNvPr id="13" name="Image 11" descr="preencoded.png"/>
          <p:cNvPicPr>
            <a:picLocks noChangeAspect="1"/>
          </p:cNvPicPr>
          <p:nvPr/>
        </p:nvPicPr>
        <p:blipFill>
          <a:blip r:embed="rId4"/>
          <a:stretch>
            <a:fillRect/>
          </a:stretch>
        </p:blipFill>
        <p:spPr>
          <a:xfrm>
            <a:off x="381000" y="3733800"/>
            <a:ext cx="3657600" cy="2362200"/>
          </a:xfrm>
          <a:prstGeom prst="rect">
            <a:avLst/>
          </a:prstGeom>
        </p:spPr>
      </p:pic>
      <p:pic>
        <p:nvPicPr>
          <p:cNvPr id="14" name="Image 12" descr="preencoded.png"/>
          <p:cNvPicPr>
            <a:picLocks noChangeAspect="1"/>
          </p:cNvPicPr>
          <p:nvPr/>
        </p:nvPicPr>
        <p:blipFill>
          <a:blip r:embed="rId11"/>
          <a:stretch>
            <a:fillRect/>
          </a:stretch>
        </p:blipFill>
        <p:spPr>
          <a:xfrm>
            <a:off x="1924050" y="3924300"/>
            <a:ext cx="571500" cy="571500"/>
          </a:xfrm>
          <a:prstGeom prst="rect">
            <a:avLst/>
          </a:prstGeom>
        </p:spPr>
      </p:pic>
      <p:pic>
        <p:nvPicPr>
          <p:cNvPr id="15" name="Image 13" descr="preencoded.png"/>
          <p:cNvPicPr>
            <a:picLocks noChangeAspect="1"/>
          </p:cNvPicPr>
          <p:nvPr/>
        </p:nvPicPr>
        <p:blipFill>
          <a:blip r:embed="rId12"/>
          <a:stretch>
            <a:fillRect/>
          </a:stretch>
        </p:blipFill>
        <p:spPr>
          <a:xfrm>
            <a:off x="2028825" y="4038600"/>
            <a:ext cx="361950" cy="342900"/>
          </a:xfrm>
          <a:prstGeom prst="rect">
            <a:avLst/>
          </a:prstGeom>
        </p:spPr>
      </p:pic>
      <p:pic>
        <p:nvPicPr>
          <p:cNvPr id="16" name="Image 14" descr="preencoded.png"/>
          <p:cNvPicPr>
            <a:picLocks noChangeAspect="1"/>
          </p:cNvPicPr>
          <p:nvPr/>
        </p:nvPicPr>
        <p:blipFill>
          <a:blip r:embed="rId4"/>
          <a:stretch>
            <a:fillRect/>
          </a:stretch>
        </p:blipFill>
        <p:spPr>
          <a:xfrm>
            <a:off x="4267200" y="3733800"/>
            <a:ext cx="3657600" cy="2362200"/>
          </a:xfrm>
          <a:prstGeom prst="rect">
            <a:avLst/>
          </a:prstGeom>
        </p:spPr>
      </p:pic>
      <p:pic>
        <p:nvPicPr>
          <p:cNvPr id="17" name="Image 15" descr="preencoded.png"/>
          <p:cNvPicPr>
            <a:picLocks noChangeAspect="1"/>
          </p:cNvPicPr>
          <p:nvPr/>
        </p:nvPicPr>
        <p:blipFill>
          <a:blip r:embed="rId13"/>
          <a:stretch>
            <a:fillRect/>
          </a:stretch>
        </p:blipFill>
        <p:spPr>
          <a:xfrm>
            <a:off x="5810250" y="3924300"/>
            <a:ext cx="571500" cy="571500"/>
          </a:xfrm>
          <a:prstGeom prst="rect">
            <a:avLst/>
          </a:prstGeom>
        </p:spPr>
      </p:pic>
      <p:pic>
        <p:nvPicPr>
          <p:cNvPr id="18" name="Image 16" descr="preencoded.png"/>
          <p:cNvPicPr>
            <a:picLocks noChangeAspect="1"/>
          </p:cNvPicPr>
          <p:nvPr/>
        </p:nvPicPr>
        <p:blipFill>
          <a:blip r:embed="rId14"/>
          <a:stretch>
            <a:fillRect/>
          </a:stretch>
        </p:blipFill>
        <p:spPr>
          <a:xfrm>
            <a:off x="5972175" y="4038600"/>
            <a:ext cx="247650" cy="342900"/>
          </a:xfrm>
          <a:prstGeom prst="rect">
            <a:avLst/>
          </a:prstGeom>
        </p:spPr>
      </p:pic>
      <p:pic>
        <p:nvPicPr>
          <p:cNvPr id="19" name="Image 17" descr="preencoded.png"/>
          <p:cNvPicPr>
            <a:picLocks noChangeAspect="1"/>
          </p:cNvPicPr>
          <p:nvPr/>
        </p:nvPicPr>
        <p:blipFill>
          <a:blip r:embed="rId15"/>
          <a:stretch>
            <a:fillRect/>
          </a:stretch>
        </p:blipFill>
        <p:spPr>
          <a:xfrm>
            <a:off x="8153400" y="3733800"/>
            <a:ext cx="3657600" cy="2362200"/>
          </a:xfrm>
          <a:prstGeom prst="rect">
            <a:avLst/>
          </a:prstGeom>
        </p:spPr>
      </p:pic>
      <p:pic>
        <p:nvPicPr>
          <p:cNvPr id="20" name="Image 18" descr="preencoded.png"/>
          <p:cNvPicPr>
            <a:picLocks noChangeAspect="1"/>
          </p:cNvPicPr>
          <p:nvPr/>
        </p:nvPicPr>
        <p:blipFill>
          <a:blip r:embed="rId16"/>
          <a:stretch>
            <a:fillRect/>
          </a:stretch>
        </p:blipFill>
        <p:spPr>
          <a:xfrm>
            <a:off x="9696450" y="3924300"/>
            <a:ext cx="571500" cy="571500"/>
          </a:xfrm>
          <a:prstGeom prst="rect">
            <a:avLst/>
          </a:prstGeom>
        </p:spPr>
      </p:pic>
      <p:pic>
        <p:nvPicPr>
          <p:cNvPr id="21" name="Image 19" descr="preencoded.png"/>
          <p:cNvPicPr>
            <a:picLocks noChangeAspect="1"/>
          </p:cNvPicPr>
          <p:nvPr/>
        </p:nvPicPr>
        <p:blipFill>
          <a:blip r:embed="rId17"/>
          <a:stretch>
            <a:fillRect/>
          </a:stretch>
        </p:blipFill>
        <p:spPr>
          <a:xfrm>
            <a:off x="9820275" y="4038600"/>
            <a:ext cx="323850" cy="342900"/>
          </a:xfrm>
          <a:prstGeom prst="rect">
            <a:avLst/>
          </a:prstGeom>
        </p:spPr>
      </p:pic>
      <p:sp>
        <p:nvSpPr>
          <p:cNvPr id="22" name="Text 0"/>
          <p:cNvSpPr/>
          <p:nvPr/>
        </p:nvSpPr>
        <p:spPr>
          <a:xfrm>
            <a:off x="-762000" y="457200"/>
            <a:ext cx="13716000" cy="381000"/>
          </a:xfrm>
          <a:prstGeom prst="rect">
            <a:avLst/>
          </a:prstGeom>
          <a:noFill/>
          <a:ln/>
        </p:spPr>
        <p:txBody>
          <a:bodyPr vert="horz" wrap="square" lIns="0" tIns="0" rIns="0" bIns="0" rtlCol="0" anchor="t"/>
          <a:lstStyle/>
          <a:p>
            <a:pPr marL="0" indent="0" algn="ctr">
              <a:lnSpc>
                <a:spcPts val="3000"/>
              </a:lnSpc>
              <a:buNone/>
            </a:pPr>
            <a:r>
              <a:rPr lang="en-US" sz="2700" b="1" dirty="0">
                <a:solidFill>
                  <a:srgbClr val="1F2937"/>
                </a:solidFill>
                <a:latin typeface="ui-sans-serif" pitchFamily="34" charset="0"/>
                <a:ea typeface="ui-sans-serif" pitchFamily="34" charset="-122"/>
                <a:cs typeface="ui-sans-serif" pitchFamily="34" charset="-120"/>
              </a:rPr>
              <a:t>Why Choose Cilium: Benefits &amp; Advantages</a:t>
            </a:r>
            <a:endParaRPr lang="en-US" sz="2700" dirty="0"/>
          </a:p>
        </p:txBody>
      </p:sp>
      <p:sp>
        <p:nvSpPr>
          <p:cNvPr id="23" name="Text 1"/>
          <p:cNvSpPr/>
          <p:nvPr/>
        </p:nvSpPr>
        <p:spPr>
          <a:xfrm>
            <a:off x="1027658" y="2057400"/>
            <a:ext cx="2836962"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Superior Performance</a:t>
            </a:r>
            <a:endParaRPr lang="en-US" sz="1500" dirty="0"/>
          </a:p>
        </p:txBody>
      </p:sp>
      <p:sp>
        <p:nvSpPr>
          <p:cNvPr id="24" name="Text 2"/>
          <p:cNvSpPr/>
          <p:nvPr/>
        </p:nvSpPr>
        <p:spPr>
          <a:xfrm>
            <a:off x="571500" y="2400300"/>
            <a:ext cx="3276600"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Leverages eBPF to reduce overhead compared to traditional iptables-based solutions, resulting in faster packet processing and lower latency</a:t>
            </a:r>
            <a:endParaRPr lang="en-US" sz="1200" dirty="0"/>
          </a:p>
        </p:txBody>
      </p:sp>
      <p:sp>
        <p:nvSpPr>
          <p:cNvPr id="25" name="Text 3"/>
          <p:cNvSpPr/>
          <p:nvPr/>
        </p:nvSpPr>
        <p:spPr>
          <a:xfrm>
            <a:off x="5096024" y="2057400"/>
            <a:ext cx="2399764"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Enhanced Security</a:t>
            </a:r>
            <a:endParaRPr lang="en-US" sz="1500" dirty="0"/>
          </a:p>
        </p:txBody>
      </p:sp>
      <p:sp>
        <p:nvSpPr>
          <p:cNvPr id="26" name="Text 4"/>
          <p:cNvSpPr/>
          <p:nvPr/>
        </p:nvSpPr>
        <p:spPr>
          <a:xfrm>
            <a:off x="4457700" y="2400300"/>
            <a:ext cx="3276600"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Provides identity-based security with zero-trust model, micro-segmentation, and fine-grained control over service-to-service communication</a:t>
            </a:r>
            <a:endParaRPr lang="en-US" sz="1200" dirty="0"/>
          </a:p>
        </p:txBody>
      </p:sp>
      <p:sp>
        <p:nvSpPr>
          <p:cNvPr id="27" name="Text 5"/>
          <p:cNvSpPr/>
          <p:nvPr/>
        </p:nvSpPr>
        <p:spPr>
          <a:xfrm>
            <a:off x="9204722" y="2057400"/>
            <a:ext cx="1865769"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Deep Visibility</a:t>
            </a:r>
            <a:endParaRPr lang="en-US" sz="1500" dirty="0"/>
          </a:p>
        </p:txBody>
      </p:sp>
      <p:sp>
        <p:nvSpPr>
          <p:cNvPr id="28" name="Text 6"/>
          <p:cNvSpPr/>
          <p:nvPr/>
        </p:nvSpPr>
        <p:spPr>
          <a:xfrm>
            <a:off x="8343900" y="2400300"/>
            <a:ext cx="3276600"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Offers unparalleled insights into network traffic, service dependencies, and policy enforcement with Hubble's observability platform</a:t>
            </a:r>
            <a:endParaRPr lang="en-US" sz="1200" dirty="0"/>
          </a:p>
        </p:txBody>
      </p:sp>
      <p:sp>
        <p:nvSpPr>
          <p:cNvPr id="29" name="Text 7"/>
          <p:cNvSpPr/>
          <p:nvPr/>
        </p:nvSpPr>
        <p:spPr>
          <a:xfrm>
            <a:off x="1111597" y="4648200"/>
            <a:ext cx="2635508"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Reduced Complexity</a:t>
            </a:r>
            <a:endParaRPr lang="en-US" sz="1500" dirty="0"/>
          </a:p>
        </p:txBody>
      </p:sp>
      <p:sp>
        <p:nvSpPr>
          <p:cNvPr id="30" name="Text 8"/>
          <p:cNvSpPr/>
          <p:nvPr/>
        </p:nvSpPr>
        <p:spPr>
          <a:xfrm>
            <a:off x="571500" y="4991100"/>
            <a:ext cx="3276600"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Simplifies network management by automating many aspects of networking and security, with sidecar-free service mesh capabilities</a:t>
            </a:r>
            <a:endParaRPr lang="en-US" sz="1200" dirty="0"/>
          </a:p>
        </p:txBody>
      </p:sp>
      <p:sp>
        <p:nvSpPr>
          <p:cNvPr id="31" name="Text 9"/>
          <p:cNvSpPr/>
          <p:nvPr/>
        </p:nvSpPr>
        <p:spPr>
          <a:xfrm>
            <a:off x="4837063" y="4648200"/>
            <a:ext cx="302127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Transparent Encryption</a:t>
            </a:r>
            <a:endParaRPr lang="en-US" sz="1500" dirty="0"/>
          </a:p>
        </p:txBody>
      </p:sp>
      <p:sp>
        <p:nvSpPr>
          <p:cNvPr id="32" name="Text 10"/>
          <p:cNvSpPr/>
          <p:nvPr/>
        </p:nvSpPr>
        <p:spPr>
          <a:xfrm>
            <a:off x="4457700" y="4991100"/>
            <a:ext cx="3276600"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Offers transparent encryption of data-in-transit between nodes and pods using WireGuard or IPsec, ensuring secure communication</a:t>
            </a:r>
            <a:endParaRPr lang="en-US" sz="1200" dirty="0"/>
          </a:p>
        </p:txBody>
      </p:sp>
      <p:sp>
        <p:nvSpPr>
          <p:cNvPr id="33" name="Text 11"/>
          <p:cNvSpPr/>
          <p:nvPr/>
        </p:nvSpPr>
        <p:spPr>
          <a:xfrm>
            <a:off x="8935194" y="4648200"/>
            <a:ext cx="2512814" cy="266700"/>
          </a:xfrm>
          <a:prstGeom prst="rect">
            <a:avLst/>
          </a:prstGeom>
          <a:noFill/>
          <a:ln/>
        </p:spPr>
        <p:txBody>
          <a:bodyPr vert="horz" wrap="square" lIns="0" tIns="0" rIns="0" bIns="0" rtlCol="0" anchor="t"/>
          <a:lstStyle/>
          <a:p>
            <a:pPr marL="0" indent="0">
              <a:lnSpc>
                <a:spcPts val="2100"/>
              </a:lnSpc>
              <a:buNone/>
            </a:pPr>
            <a:r>
              <a:rPr lang="en-US" sz="1500" b="1" dirty="0">
                <a:solidFill>
                  <a:srgbClr val="FFFFFF"/>
                </a:solidFill>
                <a:latin typeface="ui-sans-serif" pitchFamily="34" charset="0"/>
                <a:ea typeface="ui-sans-serif" pitchFamily="34" charset="-122"/>
                <a:cs typeface="ui-sans-serif" pitchFamily="34" charset="-120"/>
              </a:rPr>
              <a:t>The Leading Choice</a:t>
            </a:r>
            <a:endParaRPr lang="en-US" sz="1500" dirty="0"/>
          </a:p>
        </p:txBody>
      </p:sp>
      <p:sp>
        <p:nvSpPr>
          <p:cNvPr id="34" name="Text 12"/>
          <p:cNvSpPr/>
          <p:nvPr/>
        </p:nvSpPr>
        <p:spPr>
          <a:xfrm>
            <a:off x="8343900" y="4991100"/>
            <a:ext cx="3276600"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FFFFFF"/>
                </a:solidFill>
                <a:latin typeface="ui-sans-serif" pitchFamily="34" charset="0"/>
                <a:ea typeface="ui-sans-serif" pitchFamily="34" charset="-122"/>
                <a:cs typeface="ui-sans-serif" pitchFamily="34" charset="-120"/>
              </a:rPr>
              <a:t>Cilium has established itself as a leading solution in the cloud-native ecosystem, driving innovation with eBPF and a strong community</a:t>
            </a:r>
            <a:endParaRPr lang="en-US" sz="1200"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26</TotalTime>
  <Words>768</Words>
  <Application>Microsoft Office PowerPoint</Application>
  <PresentationFormat>Widescreen</PresentationFormat>
  <Paragraphs>133</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Rockwell</vt:lpstr>
      <vt:lpstr>ui-monospace</vt:lpstr>
      <vt:lpstr>ui-sans-serif</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Portugase</cp:lastModifiedBy>
  <cp:revision>6</cp:revision>
  <dcterms:created xsi:type="dcterms:W3CDTF">2025-10-22T21:15:14Z</dcterms:created>
  <dcterms:modified xsi:type="dcterms:W3CDTF">2025-10-22T21:42:09Z</dcterms:modified>
</cp:coreProperties>
</file>